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80" r:id="rId4"/>
    <p:sldId id="282" r:id="rId5"/>
    <p:sldId id="283" r:id="rId6"/>
    <p:sldId id="284" r:id="rId7"/>
    <p:sldId id="285" r:id="rId8"/>
    <p:sldId id="278" r:id="rId9"/>
    <p:sldId id="287" r:id="rId10"/>
    <p:sldId id="286" r:id="rId11"/>
    <p:sldId id="279" r:id="rId12"/>
    <p:sldId id="289" r:id="rId13"/>
    <p:sldId id="290" r:id="rId14"/>
    <p:sldId id="291" r:id="rId15"/>
    <p:sldId id="292" r:id="rId16"/>
    <p:sldId id="294" r:id="rId17"/>
    <p:sldId id="295" r:id="rId18"/>
    <p:sldId id="293" r:id="rId19"/>
    <p:sldId id="296" r:id="rId20"/>
    <p:sldId id="297" r:id="rId21"/>
    <p:sldId id="298" r:id="rId22"/>
    <p:sldId id="301" r:id="rId23"/>
    <p:sldId id="300" r:id="rId24"/>
    <p:sldId id="299" r:id="rId25"/>
    <p:sldId id="302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3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华丽</a:t>
            </a:r>
            <a:r>
              <a:rPr lang="en-US" altLang="zh-CN" dirty="0"/>
              <a:t>MG</a:t>
            </a:r>
            <a:r>
              <a:rPr lang="zh-CN" altLang="en-US" dirty="0"/>
              <a:t>效果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做一个华丽</a:t>
            </a:r>
            <a:r>
              <a:rPr lang="en-US" altLang="zh-CN" dirty="0"/>
              <a:t>MG</a:t>
            </a:r>
            <a:r>
              <a:rPr lang="zh-CN" altLang="en-US" dirty="0"/>
              <a:t>片头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233557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7477994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选中对象在动作路径中用直线，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效果选项中选择右，如下：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3914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189121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鼠标移动对象时候，路径会跟着移动存在问题，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选中对象在效果选项中选择锁定，路径就不会跟着移动，</a:t>
            </a:r>
            <a:r>
              <a:rPr lang="en-US" altLang="zh-CN" sz="2200" dirty="0"/>
              <a:t>B) </a:t>
            </a:r>
            <a:r>
              <a:rPr lang="zh-CN" altLang="en-US" sz="2200" dirty="0"/>
              <a:t>选中对象在效果选项中选择反转路径方向，路径起点变成终点，路径终点变成起点，</a:t>
            </a:r>
            <a:r>
              <a:rPr lang="en-US" altLang="zh-CN" sz="2200" dirty="0"/>
              <a:t>C) </a:t>
            </a:r>
            <a:r>
              <a:rPr lang="zh-CN" altLang="en-US" sz="2200" dirty="0"/>
              <a:t>效果选项右下角箭头选择自动翻转，动画会原路返回，时间自然翻倍，如下：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469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283220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7.40741E-7 L 0.25 7.40741E-7 E" pathEditMode="fixed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陀螺旋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对象无法旋转强调存在问题，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选中对象在强调中选用陀螺旋，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效果选项右下角箭头输入旋转角度</a:t>
            </a:r>
            <a:r>
              <a:rPr lang="en-US" altLang="zh-CN" sz="2200" dirty="0"/>
              <a:t>60</a:t>
            </a:r>
            <a:r>
              <a:rPr lang="zh-CN" altLang="en-US" sz="2200" dirty="0"/>
              <a:t>度，且自动翻转，如下：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259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45E4C5-17D9-4BA9-8ABE-D4CEDFE2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F7864-711D-4EDD-A384-CAE82BE46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32003A62-FDD7-4B07-8E7C-55EA047FA0E6}"/>
              </a:ext>
            </a:extLst>
          </p:cNvPr>
          <p:cNvSpPr/>
          <p:nvPr/>
        </p:nvSpPr>
        <p:spPr>
          <a:xfrm>
            <a:off x="5233557" y="1985817"/>
            <a:ext cx="1884218" cy="4045527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</p:spTree>
    <p:extLst>
      <p:ext uri="{BB962C8B-B14F-4D97-AF65-F5344CB8AC3E}">
        <p14:creationId xmlns:p14="http://schemas.microsoft.com/office/powerpoint/2010/main" val="201851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3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放大缩小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对象无法放大缩小存在问题，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选中对象在强调中选用放大缩小，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效果选项右下角箭头输入放大缩小尺寸</a:t>
            </a:r>
            <a:r>
              <a:rPr lang="en-US" altLang="zh-CN" sz="2200" dirty="0"/>
              <a:t>200</a:t>
            </a:r>
            <a:r>
              <a:rPr lang="zh-CN" altLang="en-US" sz="2200" dirty="0"/>
              <a:t>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1888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F6DC9-CF0E-488D-9BF9-1AB1FD64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BEDE2E-6144-4CFA-AE64-75219A7B7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9829E989-7C84-43A0-A122-CC855E71A28B}"/>
              </a:ext>
            </a:extLst>
          </p:cNvPr>
          <p:cNvSpPr/>
          <p:nvPr/>
        </p:nvSpPr>
        <p:spPr>
          <a:xfrm>
            <a:off x="4882575" y="2994530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6460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0E7E4D-CBBC-4DDA-93F2-2AF5F1A6DEE1}"/>
              </a:ext>
            </a:extLst>
          </p:cNvPr>
          <p:cNvSpPr/>
          <p:nvPr/>
        </p:nvSpPr>
        <p:spPr>
          <a:xfrm>
            <a:off x="942109" y="2488190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无平滑</a:t>
            </a:r>
            <a:endParaRPr lang="en-US" altLang="zh-CN" dirty="0"/>
          </a:p>
          <a:p>
            <a:pPr algn="ctr"/>
            <a:r>
              <a:rPr lang="zh-CN" altLang="en-US" dirty="0"/>
              <a:t>（匀速）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7E8EA1-E3FE-42C8-B35F-25F1EEF5105A}"/>
              </a:ext>
            </a:extLst>
          </p:cNvPr>
          <p:cNvSpPr/>
          <p:nvPr/>
        </p:nvSpPr>
        <p:spPr>
          <a:xfrm>
            <a:off x="942108" y="3316576"/>
            <a:ext cx="1366983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平滑开始（加速开始）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2362AA-B4E7-42CC-AA57-A1F106B2D458}"/>
              </a:ext>
            </a:extLst>
          </p:cNvPr>
          <p:cNvSpPr/>
          <p:nvPr/>
        </p:nvSpPr>
        <p:spPr>
          <a:xfrm>
            <a:off x="942107" y="4123603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平滑结束（加速结束）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B811DB-13EE-4498-9AE3-69F8FA8B7C69}"/>
              </a:ext>
            </a:extLst>
          </p:cNvPr>
          <p:cNvSpPr/>
          <p:nvPr/>
        </p:nvSpPr>
        <p:spPr>
          <a:xfrm>
            <a:off x="942107" y="4951989"/>
            <a:ext cx="1366982" cy="12249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弹跳结束</a:t>
            </a:r>
            <a:endParaRPr lang="en-US" altLang="zh-CN" dirty="0"/>
          </a:p>
          <a:p>
            <a:pPr algn="ctr"/>
            <a:r>
              <a:rPr lang="zh-CN" altLang="en-US" dirty="0"/>
              <a:t>（弹跳结束，有一秒钟作弹跳效果）</a:t>
            </a:r>
          </a:p>
        </p:txBody>
      </p:sp>
    </p:spTree>
    <p:extLst>
      <p:ext uri="{BB962C8B-B14F-4D97-AF65-F5344CB8AC3E}">
        <p14:creationId xmlns:p14="http://schemas.microsoft.com/office/powerpoint/2010/main" val="3327964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 p14:bounceEnd="50000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球体坠落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球体坠落无弹跳存在问题，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球体从视界外飞入，选择自顶部，平滑开始，</a:t>
            </a:r>
            <a:r>
              <a:rPr lang="en-US" altLang="zh-CN" sz="2200" dirty="0"/>
              <a:t>B) </a:t>
            </a:r>
            <a:r>
              <a:rPr lang="zh-CN" altLang="en-US" sz="2200" dirty="0"/>
              <a:t>碰到地面后会反弹，添加动画，选择路径动画，所以添加直线路径，</a:t>
            </a:r>
            <a:r>
              <a:rPr lang="en-US" altLang="zh-CN" sz="2200" dirty="0"/>
              <a:t>C)</a:t>
            </a:r>
            <a:r>
              <a:rPr lang="zh-CN" altLang="en-US" sz="2200" dirty="0"/>
              <a:t> 第二个动画延迟</a:t>
            </a:r>
            <a:r>
              <a:rPr lang="en-US" altLang="zh-CN" sz="2200" dirty="0"/>
              <a:t>0.5</a:t>
            </a:r>
            <a:r>
              <a:rPr lang="zh-CN" altLang="en-US" sz="2200" dirty="0"/>
              <a:t>秒，持续时间</a:t>
            </a:r>
            <a:r>
              <a:rPr lang="en-US" altLang="zh-CN" sz="2200" dirty="0"/>
              <a:t>0.5</a:t>
            </a:r>
            <a:r>
              <a:rPr lang="zh-CN" altLang="en-US" sz="2200" dirty="0"/>
              <a:t>秒，</a:t>
            </a:r>
            <a:r>
              <a:rPr lang="en-US" altLang="zh-CN" sz="2200" dirty="0"/>
              <a:t>D)</a:t>
            </a:r>
            <a:r>
              <a:rPr lang="zh-CN" altLang="en-US" sz="2200" dirty="0"/>
              <a:t> 第二个动画平滑结束，如下：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092680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64980-B5C1-4DDF-921E-01756B4D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AD2026-1B29-48A3-99B0-48C73B5C4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BCC63270-4788-4895-8216-FF1CF710B541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球体</a:t>
            </a:r>
          </a:p>
        </p:txBody>
      </p:sp>
    </p:spTree>
    <p:extLst>
      <p:ext uri="{BB962C8B-B14F-4D97-AF65-F5344CB8AC3E}">
        <p14:creationId xmlns:p14="http://schemas.microsoft.com/office/powerpoint/2010/main" val="133797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2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4.44444E-6 L 0.00143 -0.16899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44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br>
              <a:rPr lang="zh-CN" altLang="en-US" dirty="0"/>
            </a:b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插件（点击</a:t>
            </a:r>
            <a:r>
              <a:rPr lang="en-US" altLang="zh-CN" dirty="0" err="1"/>
              <a:t>iSlide</a:t>
            </a:r>
            <a:r>
              <a:rPr lang="zh-CN" altLang="en-US" dirty="0"/>
              <a:t>，数量设置为</a:t>
            </a:r>
            <a:r>
              <a:rPr lang="en-US" altLang="zh-CN" dirty="0"/>
              <a:t>8</a:t>
            </a:r>
            <a:r>
              <a:rPr lang="zh-CN" altLang="en-US" dirty="0"/>
              <a:t>，起始角度</a:t>
            </a:r>
            <a:r>
              <a:rPr lang="en-US" altLang="zh-CN" dirty="0"/>
              <a:t>1</a:t>
            </a:r>
            <a:r>
              <a:rPr lang="zh-CN" altLang="en-US" dirty="0"/>
              <a:t>，半径单位毫米，布局半径</a:t>
            </a:r>
            <a:r>
              <a:rPr lang="en-US" altLang="zh-CN" dirty="0"/>
              <a:t>30</a:t>
            </a:r>
            <a:r>
              <a:rPr lang="zh-CN" altLang="en-US" dirty="0"/>
              <a:t>，自动旋转，中间删除，</a:t>
            </a:r>
            <a:r>
              <a:rPr lang="en-US" altLang="zh-CN" dirty="0"/>
              <a:t>Control + G </a:t>
            </a:r>
            <a:r>
              <a:rPr lang="zh-CN" altLang="en-US" dirty="0"/>
              <a:t>组合在一起）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D224EADD-D73D-40FC-8B81-65654D430078}"/>
              </a:ext>
            </a:extLst>
          </p:cNvPr>
          <p:cNvSpPr txBox="1">
            <a:spLocks/>
          </p:cNvSpPr>
          <p:nvPr/>
        </p:nvSpPr>
        <p:spPr>
          <a:xfrm rot="5400000">
            <a:off x="838200" y="-868997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810AE8CE-1EAF-4EB0-AE29-F2A5960CFB16}"/>
              </a:ext>
            </a:extLst>
          </p:cNvPr>
          <p:cNvSpPr txBox="1">
            <a:spLocks/>
          </p:cNvSpPr>
          <p:nvPr/>
        </p:nvSpPr>
        <p:spPr>
          <a:xfrm rot="5400000">
            <a:off x="90596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319B7B76-C40A-45F7-A721-7161417982BD}"/>
              </a:ext>
            </a:extLst>
          </p:cNvPr>
          <p:cNvSpPr txBox="1">
            <a:spLocks/>
          </p:cNvSpPr>
          <p:nvPr/>
        </p:nvSpPr>
        <p:spPr>
          <a:xfrm rot="5400000">
            <a:off x="110901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2E90728E-E52D-40C9-B13E-A66C4ED30349}"/>
              </a:ext>
            </a:extLst>
          </p:cNvPr>
          <p:cNvSpPr txBox="1">
            <a:spLocks/>
          </p:cNvSpPr>
          <p:nvPr/>
        </p:nvSpPr>
        <p:spPr>
          <a:xfrm rot="5400000">
            <a:off x="54007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C5B62515-7E9F-40D2-BD28-224B71CB6250}"/>
              </a:ext>
            </a:extLst>
          </p:cNvPr>
          <p:cNvSpPr txBox="1">
            <a:spLocks/>
          </p:cNvSpPr>
          <p:nvPr/>
        </p:nvSpPr>
        <p:spPr>
          <a:xfrm rot="5400000">
            <a:off x="-37243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</a:t>
            </a:r>
          </a:p>
        </p:txBody>
      </p:sp>
      <p:sp>
        <p:nvSpPr>
          <p:cNvPr id="20" name="内容占位符 2">
            <a:extLst>
              <a:ext uri="{FF2B5EF4-FFF2-40B4-BE49-F238E27FC236}">
                <a16:creationId xmlns:a16="http://schemas.microsoft.com/office/drawing/2014/main" id="{E03593A4-8686-4622-809B-FD2B9FD17E22}"/>
              </a:ext>
            </a:extLst>
          </p:cNvPr>
          <p:cNvSpPr txBox="1">
            <a:spLocks/>
          </p:cNvSpPr>
          <p:nvPr/>
        </p:nvSpPr>
        <p:spPr>
          <a:xfrm rot="5400000">
            <a:off x="-94137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94B5CA80-1172-429C-8034-FDD4BBA95217}"/>
              </a:ext>
            </a:extLst>
          </p:cNvPr>
          <p:cNvSpPr txBox="1">
            <a:spLocks/>
          </p:cNvSpPr>
          <p:nvPr/>
        </p:nvSpPr>
        <p:spPr>
          <a:xfrm rot="5400000">
            <a:off x="-73832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0D5AE51-37E3-49FB-BF4E-820427FCDD7C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CD1CCA02-91DE-45EF-BB1C-B799A301D3E7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2214C67F-57B3-4DE8-A6B4-35653D1B1922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7B5C2A46-6AB6-456D-92A7-A812F0DA88B3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92F06542-D18F-468A-8E02-6BF3EC07EC3D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D5D6D026-D6BE-460C-ABE3-EFC8D75D4457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73FB6EA5-118E-4ECE-8E98-161577F680D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73ED7142-1FAE-46B8-98D1-13BCB6955555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16372618-8240-495A-833A-6778252351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72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en-US" altLang="zh-CN" dirty="0" err="1"/>
              <a:t>Control+G</a:t>
            </a:r>
            <a:r>
              <a:rPr lang="zh-CN" altLang="en-US" dirty="0"/>
              <a:t>合并成一个图</a:t>
            </a:r>
            <a:endParaRPr lang="en-US" altLang="zh-CN" dirty="0"/>
          </a:p>
          <a:p>
            <a:endParaRPr lang="zh-CN" altLang="en-US" dirty="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F53A2C-BC23-48B5-AD7D-0E4081B5B29D}"/>
              </a:ext>
            </a:extLst>
          </p:cNvPr>
          <p:cNvCxnSpPr/>
          <p:nvPr/>
        </p:nvCxnSpPr>
        <p:spPr>
          <a:xfrm>
            <a:off x="4882925" y="4027055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A9762C7-77F7-4EEE-AE82-E5827284F4A2}"/>
              </a:ext>
            </a:extLst>
          </p:cNvPr>
          <p:cNvCxnSpPr>
            <a:cxnSpLocks/>
          </p:cNvCxnSpPr>
          <p:nvPr/>
        </p:nvCxnSpPr>
        <p:spPr>
          <a:xfrm rot="16200000">
            <a:off x="4878308" y="4027054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3BBCE85-EC02-462F-B4A8-84C4AE458D68}"/>
              </a:ext>
            </a:extLst>
          </p:cNvPr>
          <p:cNvCxnSpPr>
            <a:cxnSpLocks/>
          </p:cNvCxnSpPr>
          <p:nvPr/>
        </p:nvCxnSpPr>
        <p:spPr>
          <a:xfrm rot="18540000">
            <a:off x="4879786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3F44054-20B4-4E9B-83DF-471B712A985A}"/>
              </a:ext>
            </a:extLst>
          </p:cNvPr>
          <p:cNvCxnSpPr>
            <a:cxnSpLocks/>
          </p:cNvCxnSpPr>
          <p:nvPr/>
        </p:nvCxnSpPr>
        <p:spPr>
          <a:xfrm rot="24420000">
            <a:off x="4878308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00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更多进入效果</a:t>
            </a:r>
            <a:r>
              <a:rPr lang="en-US" altLang="zh-CN" dirty="0"/>
              <a:t>-&gt;</a:t>
            </a:r>
            <a:r>
              <a:rPr lang="zh-CN" altLang="en-US" dirty="0"/>
              <a:t>温和，基本缩放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5883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退出动画</a:t>
            </a:r>
            <a:r>
              <a:rPr lang="en-US" altLang="zh-CN" dirty="0"/>
              <a:t>-&gt;</a:t>
            </a:r>
            <a:r>
              <a:rPr lang="zh-CN" altLang="en-US" dirty="0"/>
              <a:t>形状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调节控制时间得到最佳效果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67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xit" presetSubtype="32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0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601F6-22FE-437C-8B98-2E84C2AB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CC2D86-BD04-4B12-AEDE-830050C19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内圈的圆，更多进入效果，基本缩放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添加动画里面，强调选择放大缩小，缩放大小调整为</a:t>
            </a:r>
            <a:r>
              <a:rPr lang="en-US" altLang="zh-CN" dirty="0"/>
              <a:t>120</a:t>
            </a:r>
          </a:p>
          <a:p>
            <a:r>
              <a:rPr lang="en-US" altLang="zh-CN" dirty="0"/>
              <a:t>3. </a:t>
            </a:r>
            <a:r>
              <a:rPr lang="zh-CN" altLang="en-US" dirty="0"/>
              <a:t>添加动画里面，退出动画淡化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第一个持续时间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第二个持续时间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第三个持续时间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FF3CFB22-1E8A-4977-942A-AB92F13FF3B0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19AFEE8-4345-452A-A8F8-B636D1585EFC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E55623E9-1CA1-4B38-9588-E638D00B74EF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ADECE04-5743-426F-A5D3-E646CB50090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AFBB0A72-9A66-419D-856F-213B7610C350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2F919A3C-75BD-4D5B-A4F4-FC23A52CCAED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D00835C-17C3-4AD1-B702-D70B5DA37F6F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A37A32BC-3D3F-44E8-A69C-DEB99B695E11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B92896C-C07E-46AA-9EB6-3AF0D23F37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2C0DE269-E692-4100-B7AA-07E13B5C1C79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20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3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6B4946-0417-4619-A42E-737B5532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22D21D-AEEA-47F5-821C-8DA8F1E1B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7. </a:t>
            </a:r>
            <a:r>
              <a:rPr lang="zh-CN" altLang="en-US" dirty="0"/>
              <a:t>内圈动画刷，刷给外圈</a:t>
            </a:r>
            <a:endParaRPr lang="en-US" altLang="zh-CN" dirty="0"/>
          </a:p>
          <a:p>
            <a:r>
              <a:rPr lang="en-US" altLang="zh-CN" dirty="0"/>
              <a:t>8. </a:t>
            </a:r>
            <a:r>
              <a:rPr lang="zh-CN" altLang="en-US" dirty="0"/>
              <a:t>组合三淡化修改成形状，然后时间缩短为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</a:t>
            </a:r>
            <a:r>
              <a:rPr lang="zh-CN" altLang="en-US" dirty="0"/>
              <a:t>延迟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592F383-C0A4-499F-8456-D54897372F77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9F689F3-2527-47D8-A75E-56571D7F98DA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3B82CD23-2DA1-48D8-8226-538972A2553E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5F18CD6-0E59-409E-8A9A-DD4B3D2DE694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6C3C0A4-3EAE-442B-8057-38E633750F27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74C2827F-A084-4941-80A6-ECBC0027EFFA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C1BC0A8-7F24-431D-BDEC-3536EC2C6AC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0C1EB937-9D53-4D67-AA15-BFE9E232A0DC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76809D2A-E103-442B-AC58-29BD62E5C54C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" name="流程图: 接点 12">
            <a:extLst>
              <a:ext uri="{FF2B5EF4-FFF2-40B4-BE49-F238E27FC236}">
                <a16:creationId xmlns:a16="http://schemas.microsoft.com/office/drawing/2014/main" id="{A3EF9A8F-DDF5-4741-8EB2-CAFE9C4380A8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0642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6" presetClass="emp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6" presetClass="exit" presetSubtype="3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3" grpId="2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做一个</a:t>
            </a:r>
            <a:r>
              <a:rPr lang="en-US" altLang="zh-CN" dirty="0"/>
              <a:t>MG</a:t>
            </a:r>
            <a:r>
              <a:rPr lang="zh-CN" altLang="en-US" dirty="0"/>
              <a:t>动画片头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72970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小球飞入，方向向下，效果选项，平滑开始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添加动画，直线，路径向上，持续时间</a:t>
            </a:r>
            <a:r>
              <a:rPr lang="en-US" altLang="zh-CN" dirty="0"/>
              <a:t>0.5</a:t>
            </a:r>
            <a:r>
              <a:rPr lang="zh-CN" altLang="en-US" dirty="0"/>
              <a:t>秒，延迟</a:t>
            </a:r>
            <a:r>
              <a:rPr lang="en-US" altLang="zh-CN" dirty="0"/>
              <a:t>0.5</a:t>
            </a:r>
            <a:r>
              <a:rPr lang="zh-CN" altLang="en-US" dirty="0"/>
              <a:t>秒，</a:t>
            </a:r>
            <a:r>
              <a:rPr lang="en-US" altLang="zh-CN" dirty="0"/>
              <a:t>0.25</a:t>
            </a:r>
            <a:r>
              <a:rPr lang="zh-CN" altLang="en-US" dirty="0"/>
              <a:t>秒弹跳结束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添加放大缩小，小球盖住整个画面，延迟</a:t>
            </a:r>
            <a:r>
              <a:rPr lang="en-US" altLang="zh-CN" dirty="0"/>
              <a:t>1</a:t>
            </a:r>
            <a:r>
              <a:rPr lang="zh-CN" altLang="en-US" dirty="0"/>
              <a:t>秒，持续时间</a:t>
            </a:r>
            <a:r>
              <a:rPr lang="en-US" altLang="zh-CN" dirty="0"/>
              <a:t>0.25</a:t>
            </a:r>
            <a:r>
              <a:rPr lang="zh-CN" altLang="en-US" dirty="0"/>
              <a:t>秒，放大</a:t>
            </a:r>
            <a:r>
              <a:rPr lang="en-US" altLang="zh-CN" dirty="0"/>
              <a:t>4000</a:t>
            </a:r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DD44DB26-FB19-46EF-A042-DBB532CD0D1D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218169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08333E-7 4.44444E-6 L 0.00039 -0.19514 " pathEditMode="relative" rAng="0" ptsTypes="AA" p14:bounceEnd="50000">
                                          <p:cBhvr>
                                            <p:cTn id="10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30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08333E-7 4.44444E-6 L 0.00039 -0.19514 " pathEditMode="relative" rAng="0" ptsTypes="AA">
                                          <p:cBhvr>
                                            <p:cTn id="10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30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</p:bldLst>
      </p:timing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底部进入动画，进入擦除，方向从上往下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底部添加动画，直线</a:t>
            </a:r>
            <a:r>
              <a:rPr lang="en-US" altLang="zh-CN" dirty="0"/>
              <a:t> </a:t>
            </a:r>
            <a:r>
              <a:rPr lang="zh-CN" altLang="en-US" dirty="0"/>
              <a:t>，方向向下，拿掉平滑开始和平滑结束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底部添加动画，退出擦除，方向向下</a:t>
            </a:r>
            <a:endParaRPr lang="en-US" altLang="zh-CN" dirty="0"/>
          </a:p>
          <a:p>
            <a:r>
              <a:rPr lang="zh-CN" altLang="en-US" dirty="0"/>
              <a:t>都持续</a:t>
            </a:r>
            <a:r>
              <a:rPr lang="en-US" altLang="zh-CN" dirty="0"/>
              <a:t>0.25</a:t>
            </a:r>
            <a:r>
              <a:rPr lang="zh-CN" altLang="en-US" dirty="0"/>
              <a:t>秒，都延迟</a:t>
            </a:r>
            <a:r>
              <a:rPr lang="en-US" altLang="zh-CN" dirty="0"/>
              <a:t>0.6</a:t>
            </a:r>
            <a:r>
              <a:rPr lang="zh-CN" altLang="en-US" dirty="0"/>
              <a:t>秒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BC08B03-F387-4242-BB16-DDACC3B7D901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F8BB144-7FC8-48B5-8D7B-1722F162CE81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C9AEBCA-9142-49DE-A523-B76F7BE8171D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7DD6B80-676E-40E6-B36C-48B639880326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E09662F-3101-4B05-8238-FE135F94C1E2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3814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3.95833E-6 -4.07407E-6 L 0.06485 0.07755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2" y="386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2.91667E-6 -3.33333E-6 L -0.07708 0.06667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54" y="3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1.45833E-6 -4.07407E-6 L -0.03555 0.09653 " pathEditMode="relative" rAng="0" ptsTypes="AA">
                                      <p:cBhvr>
                                        <p:cTn id="25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84" y="4815"/>
                                    </p:animMotion>
                                  </p:childTnLst>
                                </p:cTn>
                              </p:par>
                              <p:par>
                                <p:cTn id="26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29167E-6 -4.81481E-6 L -0.00052 0.10394 " pathEditMode="relative" rAng="0" ptsTypes="AA">
                                      <p:cBhvr>
                                        <p:cTn id="33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5185"/>
                                    </p:animMotion>
                                  </p:childTnLst>
                                </p:cTn>
                              </p:par>
                              <p:par>
                                <p:cTn id="34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70833E-6 2.59259E-6 L 0.03502 0.10463 " pathEditMode="relative" rAng="0" ptsTypes="AA">
                                      <p:cBhvr>
                                        <p:cTn id="41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45" y="5231"/>
                                    </p:animMotion>
                                  </p:childTnLst>
                                </p:cTn>
                              </p:par>
                              <p:par>
                                <p:cTn id="42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447EC-574F-4D76-BF21-ADFE126DE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C785D6-AF83-4FBA-A901-3FAAF35A3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整合效果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F3BA4EA-139B-4FE9-9F24-21AE97D9CC76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D0FF6B8-8E2A-47EA-8B4B-6D228CB5D2A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13A8FE9-E36D-4FFA-B502-0DD84F0B1C01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FD891FF-645F-4F07-AC9B-AC9576383D83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59C5DD6-58F8-4A2D-8F91-E490AF3C2864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E63B39C7-5E9E-43AC-B136-4A24A82E320A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552654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</p:bldLst>
      </p:timing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373D41-82CA-46A0-BBB0-5F9E24E8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379126-BE17-4148-B7D2-E6A424A16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24" name="流程图: 接点 23">
            <a:extLst>
              <a:ext uri="{FF2B5EF4-FFF2-40B4-BE49-F238E27FC236}">
                <a16:creationId xmlns:a16="http://schemas.microsoft.com/office/drawing/2014/main" id="{64E724B3-432A-4AF8-B4F1-2A86A5CB9BD1}"/>
              </a:ext>
            </a:extLst>
          </p:cNvPr>
          <p:cNvSpPr/>
          <p:nvPr/>
        </p:nvSpPr>
        <p:spPr>
          <a:xfrm>
            <a:off x="4722828" y="2903456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6FDA48-B227-4ECE-89B6-73E176D5933C}"/>
              </a:ext>
            </a:extLst>
          </p:cNvPr>
          <p:cNvSpPr/>
          <p:nvPr/>
        </p:nvSpPr>
        <p:spPr>
          <a:xfrm>
            <a:off x="6627043" y="3544479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</p:spTree>
    <p:extLst>
      <p:ext uri="{BB962C8B-B14F-4D97-AF65-F5344CB8AC3E}">
        <p14:creationId xmlns:p14="http://schemas.microsoft.com/office/powerpoint/2010/main" val="1829861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373D41-82CA-46A0-BBB0-5F9E24E8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379126-BE17-4148-B7D2-E6A424A16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24" name="流程图: 接点 23">
            <a:extLst>
              <a:ext uri="{FF2B5EF4-FFF2-40B4-BE49-F238E27FC236}">
                <a16:creationId xmlns:a16="http://schemas.microsoft.com/office/drawing/2014/main" id="{64E724B3-432A-4AF8-B4F1-2A86A5CB9BD1}"/>
              </a:ext>
            </a:extLst>
          </p:cNvPr>
          <p:cNvSpPr/>
          <p:nvPr/>
        </p:nvSpPr>
        <p:spPr>
          <a:xfrm>
            <a:off x="4722828" y="2903456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6FDA48-B227-4ECE-89B6-73E176D5933C}"/>
              </a:ext>
            </a:extLst>
          </p:cNvPr>
          <p:cNvSpPr/>
          <p:nvPr/>
        </p:nvSpPr>
        <p:spPr>
          <a:xfrm>
            <a:off x="6627043" y="3544479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</p:spTree>
    <p:extLst>
      <p:ext uri="{BB962C8B-B14F-4D97-AF65-F5344CB8AC3E}">
        <p14:creationId xmlns:p14="http://schemas.microsoft.com/office/powerpoint/2010/main" val="2861545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2505</TotalTime>
  <Words>807</Words>
  <Application>Microsoft Office PowerPoint</Application>
  <PresentationFormat>宽屏</PresentationFormat>
  <Paragraphs>67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29" baseType="lpstr">
      <vt:lpstr>等线</vt:lpstr>
      <vt:lpstr>等线 Light</vt:lpstr>
      <vt:lpstr>Arial</vt:lpstr>
      <vt:lpstr>Office 主题​​</vt:lpstr>
      <vt:lpstr>华丽MG效果</vt:lpstr>
      <vt:lpstr>1. 常用的基础动画</vt:lpstr>
      <vt:lpstr>Sample 1:   1. 目标：对象从左到右移动 2. 对象无法移动存在问题，解决方案：A) 选中对象在动作路径中用直线，B) 效果选项中选择右，如下：  </vt:lpstr>
      <vt:lpstr>PowerPoint 演示文稿</vt:lpstr>
      <vt:lpstr>Sample 1 (Cont’d):   1. 目标：对象从左到右移动 2. 鼠标移动对象时候，路径会跟着移动存在问题，解决方案：A) 选中对象在效果选项中选择锁定，路径就不会跟着移动，B) 选中对象在效果选项中选择反转路径方向，路径起点变成终点，路径终点变成起点，C) 效果选项右下角箭头选择自动翻转，动画会原路返回，时间自然翻倍，如下：  </vt:lpstr>
      <vt:lpstr>PowerPoint 演示文稿</vt:lpstr>
      <vt:lpstr>Sample 2:   1. 目标：陀螺旋 2. 对象无法旋转强调存在问题，解决方案：A) 选中对象在强调中选用陀螺旋，B) 效果选项右下角箭头输入旋转角度60度，且自动翻转，如下：  </vt:lpstr>
      <vt:lpstr>PowerPoint 演示文稿</vt:lpstr>
      <vt:lpstr>Sample 3:   1. 目标：放大缩小 2. 对象无法放大缩小存在问题，解决方案：A) 选中对象在强调中选用放大缩小，B) 效果选项右下角箭头输入放大缩小尺寸200，且自动翻转，如下：  </vt:lpstr>
      <vt:lpstr>PowerPoint 演示文稿</vt:lpstr>
      <vt:lpstr> 2. 平滑效果的设置 </vt:lpstr>
      <vt:lpstr>Sample 4:   1. 目标：球体坠落 2. 球体坠落无弹跳存在问题，解决方案：A) 球体从视界外飞入，选择自顶部，平滑开始，B) 碰到地面后会反弹，添加动画，选择路径动画，所以添加直线路径，C) 第二个动画延迟0.5秒，持续时间0.5秒，D) 第二个动画平滑结束，如下：  </vt:lpstr>
      <vt:lpstr>PowerPoint 演示文稿</vt:lpstr>
      <vt:lpstr>  3. 制作MG修饰元素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4. 做一个MG动画片头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59</cp:revision>
  <dcterms:created xsi:type="dcterms:W3CDTF">2026-05-29T00:35:31Z</dcterms:created>
  <dcterms:modified xsi:type="dcterms:W3CDTF">2026-05-31T03:46:28Z</dcterms:modified>
</cp:coreProperties>
</file>