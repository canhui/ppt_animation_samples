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61" r:id="rId2"/>
    <p:sldId id="257" r:id="rId3"/>
    <p:sldId id="280" r:id="rId4"/>
    <p:sldId id="282" r:id="rId5"/>
    <p:sldId id="283" r:id="rId6"/>
    <p:sldId id="284" r:id="rId7"/>
    <p:sldId id="285" r:id="rId8"/>
    <p:sldId id="278" r:id="rId9"/>
    <p:sldId id="287" r:id="rId10"/>
    <p:sldId id="286" r:id="rId11"/>
    <p:sldId id="279" r:id="rId12"/>
    <p:sldId id="289" r:id="rId13"/>
    <p:sldId id="290" r:id="rId14"/>
    <p:sldId id="291" r:id="rId15"/>
    <p:sldId id="292" r:id="rId16"/>
    <p:sldId id="294" r:id="rId17"/>
    <p:sldId id="295" r:id="rId18"/>
    <p:sldId id="293" r:id="rId19"/>
    <p:sldId id="296" r:id="rId20"/>
    <p:sldId id="297" r:id="rId21"/>
    <p:sldId id="298" r:id="rId22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96" d="100"/>
          <a:sy n="96" d="100"/>
        </p:scale>
        <p:origin x="78" y="26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093DFA3-BBDD-4189-8256-30F53101902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05FD678B-62D2-4286-B7FA-F4196EA7489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EA304E5A-2344-47C2-A453-C6D2392109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2B7589-6A85-43F1-96BB-1A2EC93AE491}" type="datetimeFigureOut">
              <a:rPr lang="zh-CN" altLang="en-US" smtClean="0"/>
              <a:t>2026/5/31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3670C4B7-5384-4F7C-8500-4C04038A14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E723F91F-6DE0-4EED-8C26-633027A5A2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16D38A-70F2-46E2-9CEB-994740C6518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06819179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FC8875D-39C3-4165-AF44-961C6FAAEF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B6E3312A-B96B-4CBB-8A7E-A0F6FA657C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4E1D2C48-AEEB-490A-A763-A8F8EB0279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2B7589-6A85-43F1-96BB-1A2EC93AE491}" type="datetimeFigureOut">
              <a:rPr lang="zh-CN" altLang="en-US" smtClean="0"/>
              <a:t>2026/5/31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728029F6-47B9-48BA-A6F0-C0E2FBC7C8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E1F23BED-0050-4302-9CD1-B11CF56668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16D38A-70F2-46E2-9CEB-994740C6518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9468569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5C7AF48-06AB-46EA-B2BE-33F1300567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F5558F2A-400C-40AC-A71A-EEFDCA732D3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A3A554A5-9556-4573-9520-8170393CE2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2B7589-6A85-43F1-96BB-1A2EC93AE491}" type="datetimeFigureOut">
              <a:rPr lang="zh-CN" altLang="en-US" smtClean="0"/>
              <a:t>2026/5/31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AA18BB2A-FFCC-4AE4-A53D-74E16F4717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EBA27639-CF36-48B3-9BD5-02EE36DAED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16D38A-70F2-46E2-9CEB-994740C6518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9213138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71B7D09-A428-473D-9681-8D70FE3F7A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9966C58A-1DC6-49D6-A3FE-0AB74CB8FC8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C96C9F3B-41E8-4D4E-99CF-A758C3EDE14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E975B9D3-41E0-4DF6-9181-9331348B2A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2B7589-6A85-43F1-96BB-1A2EC93AE491}" type="datetimeFigureOut">
              <a:rPr lang="zh-CN" altLang="en-US" smtClean="0"/>
              <a:t>2026/5/31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BBA8D371-4F16-4876-A878-C8B10DE551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CF79226F-0179-4FCC-849F-3B46E01039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16D38A-70F2-46E2-9CEB-994740C6518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92143702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925F70A-A61A-4C1E-813A-9BE0DA416C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247105B8-3515-447C-8242-E65D3766293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568D46EC-3D7B-4047-9458-493BD7FCA12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B2DCB814-9B42-4DF9-95DC-3E8662C6C56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E97968D4-9C2B-4E29-A85E-D9E49B1F236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CD9F54DF-5912-4B8C-9DE3-FB7E22B084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2B7589-6A85-43F1-96BB-1A2EC93AE491}" type="datetimeFigureOut">
              <a:rPr lang="zh-CN" altLang="en-US" smtClean="0"/>
              <a:t>2026/5/31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733CDB96-3F10-4B01-9BFC-1732B0D8EA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9768FB56-E05D-4E30-9CBA-FEE59A19D7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16D38A-70F2-46E2-9CEB-994740C6518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19407239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662E468-C083-45D2-AE22-FE54E10175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7412E6A1-8AC9-46E9-A7BC-2D2447C226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2B7589-6A85-43F1-96BB-1A2EC93AE491}" type="datetimeFigureOut">
              <a:rPr lang="zh-CN" altLang="en-US" smtClean="0"/>
              <a:t>2026/5/31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7C22EEA4-C9B3-443E-9ED5-5604DBD9D4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06467A86-5812-4B56-8B1E-B714200926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16D38A-70F2-46E2-9CEB-994740C6518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75193836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6BC7E40C-A7C0-48DD-9FAC-DEE7102CF5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2B7589-6A85-43F1-96BB-1A2EC93AE491}" type="datetimeFigureOut">
              <a:rPr lang="zh-CN" altLang="en-US" smtClean="0"/>
              <a:t>2026/5/31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74B5E6B2-E9B9-4DAE-8E31-CF5E6A69D7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98F07FD1-84D4-454C-8EB5-3E217F9A3B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16D38A-70F2-46E2-9CEB-994740C6518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0021620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F70992A-3E59-4898-A3FC-42216AB06A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E1B9FC22-E2B9-4F1F-9E4E-95CD17340DA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339ACD0C-6392-4178-BE96-DB5540F1F53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D297B7B4-EE74-491A-A0F0-E286C52A6A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2B7589-6A85-43F1-96BB-1A2EC93AE491}" type="datetimeFigureOut">
              <a:rPr lang="zh-CN" altLang="en-US" smtClean="0"/>
              <a:t>2026/5/31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8BBA0500-0003-4977-84E9-A62C3EF3B2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E2A5B315-D0A4-40A4-ACB0-63769F8C88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16D38A-70F2-46E2-9CEB-994740C6518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83181001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45CDA62-004F-417C-8F77-A9962E3341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6E9E2263-75F2-46AD-B313-E046DD9CA74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0B5E6C5A-DC7A-4CFB-AC41-D4E26BC1379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42B9CFD4-3CCE-494E-B143-FA11B8ABD9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2B7589-6A85-43F1-96BB-1A2EC93AE491}" type="datetimeFigureOut">
              <a:rPr lang="zh-CN" altLang="en-US" smtClean="0"/>
              <a:t>2026/5/31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3677FA0E-C471-4C87-8D19-6C5D6D463D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51718433-E461-4164-BA5A-CECED344E1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16D38A-70F2-46E2-9CEB-994740C6518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05480202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8789EAE-918E-49DD-A0D8-116D99C287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ABC9FEF5-CCBF-48A9-9D79-CEAE87BC818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77263059-3C99-44D5-834B-AE5C5D0C1D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2B7589-6A85-43F1-96BB-1A2EC93AE491}" type="datetimeFigureOut">
              <a:rPr lang="zh-CN" altLang="en-US" smtClean="0"/>
              <a:t>2026/5/31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A38B5C9F-AACA-4121-ADB2-6768E80EF2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B550DF41-0F37-48B6-823B-95A10E85FD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16D38A-70F2-46E2-9CEB-994740C6518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05193089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5D33B976-D6DC-4764-8EA5-C1955ED58BB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D13BF09B-6FE5-4130-A7A1-5AF592596AC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D91C6D2A-70EC-4055-86D4-9A648CB3D7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2B7589-6A85-43F1-96BB-1A2EC93AE491}" type="datetimeFigureOut">
              <a:rPr lang="zh-CN" altLang="en-US" smtClean="0"/>
              <a:t>2026/5/31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AA4A8373-CB81-49CF-B823-EF045E4755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E99CD6DB-7686-4460-9B2C-324383E0D0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16D38A-70F2-46E2-9CEB-994740C6518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69172296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40AC2033-8256-49AF-AB04-6013D98794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35409BA6-8A03-42F3-B633-96D98484403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70203DD2-AE08-4A9C-A5C1-35BDF2F56B1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92B7589-6A85-43F1-96BB-1A2EC93AE491}" type="datetimeFigureOut">
              <a:rPr lang="zh-CN" altLang="en-US" smtClean="0"/>
              <a:t>2026/5/31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A61B5628-18D7-4438-BD07-CC6BC5CDF51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7AE1DA91-DC61-4444-82EA-9261DF4449D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716D38A-70F2-46E2-9CEB-994740C6518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0243430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B66F3CC-E0A3-443F-8537-C870D90EA9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华丽</a:t>
            </a:r>
            <a:r>
              <a:rPr lang="en-US" altLang="zh-CN" dirty="0"/>
              <a:t>MG</a:t>
            </a:r>
            <a:r>
              <a:rPr lang="zh-CN" altLang="en-US" dirty="0"/>
              <a:t>效果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44CDF52E-FF6F-4CC3-91D4-1259DF138C0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CN" dirty="0"/>
              <a:t>1. </a:t>
            </a:r>
            <a:r>
              <a:rPr lang="zh-CN" altLang="en-US" dirty="0"/>
              <a:t>常用的基础动画</a:t>
            </a:r>
            <a:endParaRPr lang="en-US" altLang="zh-CN" dirty="0"/>
          </a:p>
          <a:p>
            <a:r>
              <a:rPr lang="en-US" altLang="zh-CN" dirty="0"/>
              <a:t>2. </a:t>
            </a:r>
            <a:r>
              <a:rPr lang="zh-CN" altLang="en-US" dirty="0"/>
              <a:t>平滑效果的设置</a:t>
            </a:r>
            <a:endParaRPr lang="en-US" altLang="zh-CN" dirty="0"/>
          </a:p>
          <a:p>
            <a:r>
              <a:rPr lang="en-US" altLang="zh-CN" dirty="0"/>
              <a:t>3. </a:t>
            </a:r>
            <a:r>
              <a:rPr lang="zh-CN" altLang="en-US" dirty="0"/>
              <a:t>制作</a:t>
            </a:r>
            <a:r>
              <a:rPr lang="en-US" altLang="zh-CN" dirty="0"/>
              <a:t>MG</a:t>
            </a:r>
            <a:r>
              <a:rPr lang="zh-CN" altLang="en-US" dirty="0"/>
              <a:t>修饰元素</a:t>
            </a:r>
            <a:endParaRPr lang="en-US" altLang="zh-CN" dirty="0"/>
          </a:p>
          <a:p>
            <a:r>
              <a:rPr lang="en-US" altLang="zh-CN" dirty="0"/>
              <a:t>4. </a:t>
            </a:r>
            <a:r>
              <a:rPr lang="zh-CN" altLang="en-US" dirty="0"/>
              <a:t>做一个华丽</a:t>
            </a:r>
            <a:r>
              <a:rPr lang="en-US" altLang="zh-CN" dirty="0"/>
              <a:t>MG</a:t>
            </a:r>
            <a:r>
              <a:rPr lang="zh-CN" altLang="en-US" dirty="0"/>
              <a:t>片头</a:t>
            </a:r>
          </a:p>
        </p:txBody>
      </p:sp>
    </p:spTree>
    <p:extLst>
      <p:ext uri="{BB962C8B-B14F-4D97-AF65-F5344CB8AC3E}">
        <p14:creationId xmlns:p14="http://schemas.microsoft.com/office/powerpoint/2010/main" val="300860739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BBD2E4C-11EB-4F8B-AB01-E201CF9451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1. </a:t>
            </a:r>
            <a:r>
              <a:rPr lang="zh-CN" altLang="en-US" dirty="0"/>
              <a:t>常用的基础动画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2D3849D7-F7E9-4CA5-A75A-0BEEDDE6173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endParaRPr lang="zh-CN" altLang="en-US" dirty="0"/>
          </a:p>
        </p:txBody>
      </p:sp>
      <p:sp>
        <p:nvSpPr>
          <p:cNvPr id="5" name="矩形: 对角圆角 4">
            <a:extLst>
              <a:ext uri="{FF2B5EF4-FFF2-40B4-BE49-F238E27FC236}">
                <a16:creationId xmlns:a16="http://schemas.microsoft.com/office/drawing/2014/main" id="{B046F394-24B6-4349-A59B-41C123A9FC9C}"/>
              </a:ext>
            </a:extLst>
          </p:cNvPr>
          <p:cNvSpPr/>
          <p:nvPr/>
        </p:nvSpPr>
        <p:spPr>
          <a:xfrm>
            <a:off x="3001822" y="3057232"/>
            <a:ext cx="1884218" cy="1006764"/>
          </a:xfrm>
          <a:prstGeom prst="round2Diag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/>
              <a:t>动作路径</a:t>
            </a:r>
            <a:endParaRPr lang="en-US" altLang="zh-CN" dirty="0"/>
          </a:p>
          <a:p>
            <a:pPr algn="ctr"/>
            <a:r>
              <a:rPr lang="zh-CN" altLang="en-US" dirty="0"/>
              <a:t>（位置改变）</a:t>
            </a:r>
          </a:p>
        </p:txBody>
      </p:sp>
      <p:sp>
        <p:nvSpPr>
          <p:cNvPr id="6" name="矩形: 对角圆角 5">
            <a:extLst>
              <a:ext uri="{FF2B5EF4-FFF2-40B4-BE49-F238E27FC236}">
                <a16:creationId xmlns:a16="http://schemas.microsoft.com/office/drawing/2014/main" id="{ADF59E04-9C13-488D-9B3D-033FDB770231}"/>
              </a:ext>
            </a:extLst>
          </p:cNvPr>
          <p:cNvSpPr/>
          <p:nvPr/>
        </p:nvSpPr>
        <p:spPr>
          <a:xfrm>
            <a:off x="5233557" y="3024904"/>
            <a:ext cx="1884218" cy="1006764"/>
          </a:xfrm>
          <a:prstGeom prst="round2Diag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/>
              <a:t>陀螺旋</a:t>
            </a:r>
            <a:endParaRPr lang="en-US" altLang="zh-CN" dirty="0"/>
          </a:p>
          <a:p>
            <a:pPr algn="ctr"/>
            <a:r>
              <a:rPr lang="zh-CN" altLang="en-US" dirty="0"/>
              <a:t>（角度改变）</a:t>
            </a:r>
          </a:p>
        </p:txBody>
      </p:sp>
      <p:sp>
        <p:nvSpPr>
          <p:cNvPr id="7" name="矩形: 对角圆角 6">
            <a:extLst>
              <a:ext uri="{FF2B5EF4-FFF2-40B4-BE49-F238E27FC236}">
                <a16:creationId xmlns:a16="http://schemas.microsoft.com/office/drawing/2014/main" id="{7A56EA5D-FA8A-498E-A856-B003B58CB618}"/>
              </a:ext>
            </a:extLst>
          </p:cNvPr>
          <p:cNvSpPr/>
          <p:nvPr/>
        </p:nvSpPr>
        <p:spPr>
          <a:xfrm>
            <a:off x="7477994" y="3024904"/>
            <a:ext cx="1884218" cy="1006764"/>
          </a:xfrm>
          <a:prstGeom prst="round2Diag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/>
              <a:t>放大缩小</a:t>
            </a:r>
            <a:endParaRPr lang="en-US" altLang="zh-CN" dirty="0"/>
          </a:p>
          <a:p>
            <a:pPr algn="ctr"/>
            <a:r>
              <a:rPr lang="zh-CN" altLang="en-US" dirty="0"/>
              <a:t>（大小改变）</a:t>
            </a:r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14580537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7" presetClass="emph" presetSubtype="0" fill="remove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" dur="250" autoRev="1" fill="remove"/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chemeClr val="bg1"/>
                                      </p:to>
                                    </p:animClr>
                                    <p:animClr clrSpc="rgb" dir="cw">
                                      <p:cBhvr>
                                        <p:cTn id="7" dur="250" autoRev="1" fill="remove"/>
                                        <p:tgtEl>
                                          <p:spTgt spid="5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chemeClr val="bg1"/>
                                      </p:to>
                                    </p:animClr>
                                    <p:set>
                                      <p:cBhvr>
                                        <p:cTn id="8" dur="250" autoRev="1" fill="remove"/>
                                        <p:tgtEl>
                                          <p:spTgt spid="5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9" dur="250" autoRev="1" fill="remove"/>
                                        <p:tgtEl>
                                          <p:spTgt spid="5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3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" dur="1000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1000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ppt_y+.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50" presetClass="path" presetSubtype="0" accel="50000" decel="5000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4.375E-6 -1.85185E-6 L 0.125 -1.85185E-6 C 0.18099 -1.85185E-6 0.25 0.06898 0.25 0.125 L 0.25 0.25 " pathEditMode="relative" rAng="0" ptsTypes="AAAA">
                                      <p:cBhvr>
                                        <p:cTn id="20" dur="2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2500" y="1250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标题 1">
            <a:extLst>
              <a:ext uri="{FF2B5EF4-FFF2-40B4-BE49-F238E27FC236}">
                <a16:creationId xmlns:a16="http://schemas.microsoft.com/office/drawing/2014/main" id="{26E2AC48-A593-46C6-AF61-8997E0FA8C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091093"/>
          </a:xfrm>
        </p:spPr>
        <p:txBody>
          <a:bodyPr>
            <a:normAutofit/>
          </a:bodyPr>
          <a:lstStyle/>
          <a:p>
            <a:r>
              <a:rPr lang="en-US" altLang="zh-CN" sz="2200" b="1" u="sng" dirty="0"/>
              <a:t>Sample 1</a:t>
            </a:r>
            <a:r>
              <a:rPr lang="en-US" altLang="zh-CN" sz="2200" b="1" dirty="0"/>
              <a:t>: </a:t>
            </a:r>
            <a:br>
              <a:rPr lang="en-US" altLang="zh-CN" sz="2200" dirty="0"/>
            </a:br>
            <a:br>
              <a:rPr lang="en-US" altLang="zh-CN" sz="2200" dirty="0"/>
            </a:br>
            <a:r>
              <a:rPr lang="en-US" altLang="zh-CN" sz="2200" dirty="0"/>
              <a:t>1. </a:t>
            </a:r>
            <a:r>
              <a:rPr lang="zh-CN" altLang="en-US" sz="2200" b="1" dirty="0"/>
              <a:t>目标：</a:t>
            </a:r>
            <a:r>
              <a:rPr lang="zh-CN" altLang="en-US" sz="2200" dirty="0"/>
              <a:t>对象从左到右移动</a:t>
            </a:r>
            <a:br>
              <a:rPr lang="en-US" altLang="zh-CN" sz="2200" dirty="0"/>
            </a:br>
            <a:r>
              <a:rPr lang="en-US" altLang="zh-CN" sz="2200" dirty="0"/>
              <a:t>2. </a:t>
            </a:r>
            <a:r>
              <a:rPr lang="zh-CN" altLang="en-US" sz="2200" dirty="0"/>
              <a:t>对象无法移动存在问题，</a:t>
            </a:r>
            <a:r>
              <a:rPr lang="zh-CN" altLang="en-US" sz="2200" b="1" dirty="0"/>
              <a:t>解决方案：</a:t>
            </a:r>
            <a:r>
              <a:rPr lang="en-US" altLang="zh-CN" sz="2200" dirty="0"/>
              <a:t>A)</a:t>
            </a:r>
            <a:r>
              <a:rPr lang="zh-CN" altLang="en-US" sz="2200" dirty="0"/>
              <a:t> 选中对象在动作路径中用直线，</a:t>
            </a:r>
            <a:r>
              <a:rPr lang="en-US" altLang="zh-CN" sz="2200" dirty="0"/>
              <a:t>B) </a:t>
            </a:r>
            <a:r>
              <a:rPr lang="zh-CN" altLang="en-US" sz="2200" dirty="0"/>
              <a:t>效果选项中选择右，如下：</a:t>
            </a:r>
            <a:r>
              <a:rPr lang="en-US" altLang="zh-CN" sz="2200" dirty="0"/>
              <a:t> </a:t>
            </a:r>
            <a:br>
              <a:rPr lang="en-US" altLang="zh-CN" sz="2200" dirty="0"/>
            </a:br>
            <a:endParaRPr lang="zh-CN" altLang="en-US" sz="2200" dirty="0"/>
          </a:p>
        </p:txBody>
      </p:sp>
    </p:spTree>
    <p:extLst>
      <p:ext uri="{BB962C8B-B14F-4D97-AF65-F5344CB8AC3E}">
        <p14:creationId xmlns:p14="http://schemas.microsoft.com/office/powerpoint/2010/main" val="339144728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EB46DBF-0797-461D-97CA-A3FCFC61BD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0BD41C5E-0A8E-4A40-A357-31CE4B9F0A3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5" name="矩形: 对角圆角 4">
            <a:extLst>
              <a:ext uri="{FF2B5EF4-FFF2-40B4-BE49-F238E27FC236}">
                <a16:creationId xmlns:a16="http://schemas.microsoft.com/office/drawing/2014/main" id="{2F0F82F1-03BE-48A1-932E-6F9791E7CC5F}"/>
              </a:ext>
            </a:extLst>
          </p:cNvPr>
          <p:cNvSpPr/>
          <p:nvPr/>
        </p:nvSpPr>
        <p:spPr>
          <a:xfrm>
            <a:off x="3001822" y="3057232"/>
            <a:ext cx="1884218" cy="1006764"/>
          </a:xfrm>
          <a:prstGeom prst="round2Diag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/>
              <a:t>动作路径</a:t>
            </a:r>
            <a:endParaRPr lang="en-US" altLang="zh-CN" dirty="0"/>
          </a:p>
          <a:p>
            <a:pPr algn="ctr"/>
            <a:r>
              <a:rPr lang="zh-CN" altLang="en-US" dirty="0"/>
              <a:t>（位置改变）</a:t>
            </a:r>
          </a:p>
        </p:txBody>
      </p:sp>
    </p:spTree>
    <p:extLst>
      <p:ext uri="{BB962C8B-B14F-4D97-AF65-F5344CB8AC3E}">
        <p14:creationId xmlns:p14="http://schemas.microsoft.com/office/powerpoint/2010/main" val="18912140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63" presetClass="path" presetSubtype="0" accel="50000" decel="5000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25 0 E" pathEditMode="relative" ptsTypes="">
                                      <p:cBhvr>
                                        <p:cTn id="6" dur="2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标题 1">
            <a:extLst>
              <a:ext uri="{FF2B5EF4-FFF2-40B4-BE49-F238E27FC236}">
                <a16:creationId xmlns:a16="http://schemas.microsoft.com/office/drawing/2014/main" id="{26E2AC48-A593-46C6-AF61-8997E0FA8C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091093"/>
          </a:xfrm>
        </p:spPr>
        <p:txBody>
          <a:bodyPr>
            <a:normAutofit/>
          </a:bodyPr>
          <a:lstStyle/>
          <a:p>
            <a:r>
              <a:rPr lang="en-US" altLang="zh-CN" sz="2200" b="1" u="sng" dirty="0"/>
              <a:t>Sample 1 (Cont’d)</a:t>
            </a:r>
            <a:r>
              <a:rPr lang="en-US" altLang="zh-CN" sz="2200" b="1" dirty="0"/>
              <a:t>: </a:t>
            </a:r>
            <a:br>
              <a:rPr lang="en-US" altLang="zh-CN" sz="2200" dirty="0"/>
            </a:br>
            <a:br>
              <a:rPr lang="en-US" altLang="zh-CN" sz="2200" dirty="0"/>
            </a:br>
            <a:r>
              <a:rPr lang="en-US" altLang="zh-CN" sz="2200" dirty="0"/>
              <a:t>1. </a:t>
            </a:r>
            <a:r>
              <a:rPr lang="zh-CN" altLang="en-US" sz="2200" b="1" dirty="0"/>
              <a:t>目标：</a:t>
            </a:r>
            <a:r>
              <a:rPr lang="zh-CN" altLang="en-US" sz="2200" dirty="0"/>
              <a:t>对象从左到右移动</a:t>
            </a:r>
            <a:br>
              <a:rPr lang="en-US" altLang="zh-CN" sz="2200" dirty="0"/>
            </a:br>
            <a:r>
              <a:rPr lang="en-US" altLang="zh-CN" sz="2200" dirty="0"/>
              <a:t>2. </a:t>
            </a:r>
            <a:r>
              <a:rPr lang="zh-CN" altLang="en-US" sz="2200" dirty="0"/>
              <a:t>鼠标移动对象时候，路径会跟着移动存在问题，</a:t>
            </a:r>
            <a:r>
              <a:rPr lang="zh-CN" altLang="en-US" sz="2200" b="1" dirty="0"/>
              <a:t>解决方案：</a:t>
            </a:r>
            <a:r>
              <a:rPr lang="en-US" altLang="zh-CN" sz="2200" dirty="0"/>
              <a:t>A)</a:t>
            </a:r>
            <a:r>
              <a:rPr lang="zh-CN" altLang="en-US" sz="2200" dirty="0"/>
              <a:t> 选中对象在效果选项中选择锁定，路径就不会跟着移动，</a:t>
            </a:r>
            <a:r>
              <a:rPr lang="en-US" altLang="zh-CN" sz="2200" dirty="0"/>
              <a:t>B) </a:t>
            </a:r>
            <a:r>
              <a:rPr lang="zh-CN" altLang="en-US" sz="2200" dirty="0"/>
              <a:t>选中对象在效果选项中选择反转路径方向，路径起点变成终点，路径终点变成起点，</a:t>
            </a:r>
            <a:r>
              <a:rPr lang="en-US" altLang="zh-CN" sz="2200" dirty="0"/>
              <a:t>C) </a:t>
            </a:r>
            <a:r>
              <a:rPr lang="zh-CN" altLang="en-US" sz="2200" dirty="0"/>
              <a:t>效果选项右下角箭头选择自动翻转，动画会原路返回，时间自然翻倍，如下：</a:t>
            </a:r>
            <a:r>
              <a:rPr lang="en-US" altLang="zh-CN" sz="2200" dirty="0"/>
              <a:t> </a:t>
            </a:r>
            <a:br>
              <a:rPr lang="en-US" altLang="zh-CN" sz="2200" dirty="0"/>
            </a:br>
            <a:endParaRPr lang="zh-CN" altLang="en-US" sz="2200" dirty="0"/>
          </a:p>
        </p:txBody>
      </p:sp>
    </p:spTree>
    <p:extLst>
      <p:ext uri="{BB962C8B-B14F-4D97-AF65-F5344CB8AC3E}">
        <p14:creationId xmlns:p14="http://schemas.microsoft.com/office/powerpoint/2010/main" val="384694742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EB46DBF-0797-461D-97CA-A3FCFC61BD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0BD41C5E-0A8E-4A40-A357-31CE4B9F0A3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5" name="矩形: 对角圆角 4">
            <a:extLst>
              <a:ext uri="{FF2B5EF4-FFF2-40B4-BE49-F238E27FC236}">
                <a16:creationId xmlns:a16="http://schemas.microsoft.com/office/drawing/2014/main" id="{2F0F82F1-03BE-48A1-932E-6F9791E7CC5F}"/>
              </a:ext>
            </a:extLst>
          </p:cNvPr>
          <p:cNvSpPr/>
          <p:nvPr/>
        </p:nvSpPr>
        <p:spPr>
          <a:xfrm>
            <a:off x="3001822" y="3057232"/>
            <a:ext cx="1884218" cy="1006764"/>
          </a:xfrm>
          <a:prstGeom prst="round2Diag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/>
              <a:t>动作路径</a:t>
            </a:r>
            <a:endParaRPr lang="en-US" altLang="zh-CN" dirty="0"/>
          </a:p>
          <a:p>
            <a:pPr algn="ctr"/>
            <a:r>
              <a:rPr lang="zh-CN" altLang="en-US" dirty="0"/>
              <a:t>（位置改变）</a:t>
            </a:r>
          </a:p>
        </p:txBody>
      </p:sp>
    </p:spTree>
    <p:extLst>
      <p:ext uri="{BB962C8B-B14F-4D97-AF65-F5344CB8AC3E}">
        <p14:creationId xmlns:p14="http://schemas.microsoft.com/office/powerpoint/2010/main" val="28322080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63" presetClass="path" presetSubtype="0" accel="50000" decel="50000" autoRev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2.5E-6 7.40741E-7 L 0.25 7.40741E-7 E" pathEditMode="fixed" ptsTypes="">
                                      <p:cBhvr>
                                        <p:cTn id="6" dur="2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标题 1">
            <a:extLst>
              <a:ext uri="{FF2B5EF4-FFF2-40B4-BE49-F238E27FC236}">
                <a16:creationId xmlns:a16="http://schemas.microsoft.com/office/drawing/2014/main" id="{26E2AC48-A593-46C6-AF61-8997E0FA8C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091093"/>
          </a:xfrm>
        </p:spPr>
        <p:txBody>
          <a:bodyPr>
            <a:normAutofit/>
          </a:bodyPr>
          <a:lstStyle/>
          <a:p>
            <a:r>
              <a:rPr lang="en-US" altLang="zh-CN" sz="2200" b="1" u="sng" dirty="0"/>
              <a:t>Sample 2</a:t>
            </a:r>
            <a:r>
              <a:rPr lang="en-US" altLang="zh-CN" sz="2200" b="1" dirty="0"/>
              <a:t>: </a:t>
            </a:r>
            <a:br>
              <a:rPr lang="en-US" altLang="zh-CN" sz="2200" dirty="0"/>
            </a:br>
            <a:br>
              <a:rPr lang="en-US" altLang="zh-CN" sz="2200" dirty="0"/>
            </a:br>
            <a:r>
              <a:rPr lang="en-US" altLang="zh-CN" sz="2200" dirty="0"/>
              <a:t>1. </a:t>
            </a:r>
            <a:r>
              <a:rPr lang="zh-CN" altLang="en-US" sz="2200" b="1" dirty="0"/>
              <a:t>目标：</a:t>
            </a:r>
            <a:r>
              <a:rPr lang="zh-CN" altLang="en-US" sz="2200" dirty="0"/>
              <a:t>陀螺旋</a:t>
            </a:r>
            <a:br>
              <a:rPr lang="en-US" altLang="zh-CN" sz="2200" dirty="0"/>
            </a:br>
            <a:r>
              <a:rPr lang="en-US" altLang="zh-CN" sz="2200" dirty="0"/>
              <a:t>2. </a:t>
            </a:r>
            <a:r>
              <a:rPr lang="zh-CN" altLang="en-US" sz="2200" dirty="0"/>
              <a:t>对象无法旋转强调存在问题，</a:t>
            </a:r>
            <a:r>
              <a:rPr lang="zh-CN" altLang="en-US" sz="2200" b="1" dirty="0"/>
              <a:t>解决方案：</a:t>
            </a:r>
            <a:r>
              <a:rPr lang="en-US" altLang="zh-CN" sz="2200" dirty="0"/>
              <a:t>A)</a:t>
            </a:r>
            <a:r>
              <a:rPr lang="zh-CN" altLang="en-US" sz="2200" dirty="0"/>
              <a:t> 选中对象在强调中选用陀螺旋，</a:t>
            </a:r>
            <a:r>
              <a:rPr lang="en-US" altLang="zh-CN" sz="2200" dirty="0"/>
              <a:t>B) </a:t>
            </a:r>
            <a:r>
              <a:rPr lang="zh-CN" altLang="en-US" sz="2200" dirty="0"/>
              <a:t>效果选项右下角箭头输入旋转角度</a:t>
            </a:r>
            <a:r>
              <a:rPr lang="en-US" altLang="zh-CN" sz="2200" dirty="0"/>
              <a:t>60</a:t>
            </a:r>
            <a:r>
              <a:rPr lang="zh-CN" altLang="en-US" sz="2200" dirty="0"/>
              <a:t>度，且自动翻转，如下：</a:t>
            </a:r>
            <a:r>
              <a:rPr lang="en-US" altLang="zh-CN" sz="2200" dirty="0"/>
              <a:t> </a:t>
            </a:r>
            <a:br>
              <a:rPr lang="en-US" altLang="zh-CN" sz="2200" dirty="0"/>
            </a:br>
            <a:endParaRPr lang="zh-CN" altLang="en-US" sz="2200" dirty="0"/>
          </a:p>
        </p:txBody>
      </p:sp>
    </p:spTree>
    <p:extLst>
      <p:ext uri="{BB962C8B-B14F-4D97-AF65-F5344CB8AC3E}">
        <p14:creationId xmlns:p14="http://schemas.microsoft.com/office/powerpoint/2010/main" val="56259844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D45E4C5-17D9-4BA9-8ABE-D4CEDFE24E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547F7864-711D-4EDD-A384-CAE82BE4645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矩形: 对角圆角 3">
            <a:extLst>
              <a:ext uri="{FF2B5EF4-FFF2-40B4-BE49-F238E27FC236}">
                <a16:creationId xmlns:a16="http://schemas.microsoft.com/office/drawing/2014/main" id="{32003A62-FDD7-4B07-8E7C-55EA047FA0E6}"/>
              </a:ext>
            </a:extLst>
          </p:cNvPr>
          <p:cNvSpPr/>
          <p:nvPr/>
        </p:nvSpPr>
        <p:spPr>
          <a:xfrm>
            <a:off x="5233557" y="1985817"/>
            <a:ext cx="1884218" cy="4045527"/>
          </a:xfrm>
          <a:prstGeom prst="round2Diag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/>
              <a:t>陀螺旋</a:t>
            </a:r>
            <a:endParaRPr lang="en-US" altLang="zh-CN" dirty="0"/>
          </a:p>
          <a:p>
            <a:pPr algn="ctr"/>
            <a:r>
              <a:rPr lang="zh-CN" altLang="en-US" dirty="0"/>
              <a:t>（角度改变）</a:t>
            </a:r>
          </a:p>
        </p:txBody>
      </p:sp>
    </p:spTree>
    <p:extLst>
      <p:ext uri="{BB962C8B-B14F-4D97-AF65-F5344CB8AC3E}">
        <p14:creationId xmlns:p14="http://schemas.microsoft.com/office/powerpoint/2010/main" val="20185140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8" presetClass="emph" presetSubtype="0" autoRev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Rot by="3600000">
                                      <p:cBhvr>
                                        <p:cTn id="6" dur="2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标题 1">
            <a:extLst>
              <a:ext uri="{FF2B5EF4-FFF2-40B4-BE49-F238E27FC236}">
                <a16:creationId xmlns:a16="http://schemas.microsoft.com/office/drawing/2014/main" id="{26E2AC48-A593-46C6-AF61-8997E0FA8C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091093"/>
          </a:xfrm>
        </p:spPr>
        <p:txBody>
          <a:bodyPr>
            <a:normAutofit/>
          </a:bodyPr>
          <a:lstStyle/>
          <a:p>
            <a:r>
              <a:rPr lang="en-US" altLang="zh-CN" sz="2200" b="1" u="sng" dirty="0"/>
              <a:t>Sample 3</a:t>
            </a:r>
            <a:r>
              <a:rPr lang="en-US" altLang="zh-CN" sz="2200" b="1" dirty="0"/>
              <a:t>: </a:t>
            </a:r>
            <a:br>
              <a:rPr lang="en-US" altLang="zh-CN" sz="2200" dirty="0"/>
            </a:br>
            <a:br>
              <a:rPr lang="en-US" altLang="zh-CN" sz="2200" dirty="0"/>
            </a:br>
            <a:r>
              <a:rPr lang="en-US" altLang="zh-CN" sz="2200" dirty="0"/>
              <a:t>1. </a:t>
            </a:r>
            <a:r>
              <a:rPr lang="zh-CN" altLang="en-US" sz="2200" b="1" dirty="0"/>
              <a:t>目标：</a:t>
            </a:r>
            <a:r>
              <a:rPr lang="zh-CN" altLang="en-US" sz="2200" dirty="0"/>
              <a:t>放大缩小</a:t>
            </a:r>
            <a:br>
              <a:rPr lang="en-US" altLang="zh-CN" sz="2200" dirty="0"/>
            </a:br>
            <a:r>
              <a:rPr lang="en-US" altLang="zh-CN" sz="2200" dirty="0"/>
              <a:t>2. </a:t>
            </a:r>
            <a:r>
              <a:rPr lang="zh-CN" altLang="en-US" sz="2200" dirty="0"/>
              <a:t>对象无法放大缩小存在问题，</a:t>
            </a:r>
            <a:r>
              <a:rPr lang="zh-CN" altLang="en-US" sz="2200" b="1" dirty="0"/>
              <a:t>解决方案：</a:t>
            </a:r>
            <a:r>
              <a:rPr lang="en-US" altLang="zh-CN" sz="2200" dirty="0"/>
              <a:t>A)</a:t>
            </a:r>
            <a:r>
              <a:rPr lang="zh-CN" altLang="en-US" sz="2200" dirty="0"/>
              <a:t> 选中对象在强调中选用放大缩小，</a:t>
            </a:r>
            <a:r>
              <a:rPr lang="en-US" altLang="zh-CN" sz="2200" dirty="0"/>
              <a:t>B) </a:t>
            </a:r>
            <a:r>
              <a:rPr lang="zh-CN" altLang="en-US" sz="2200" dirty="0"/>
              <a:t>效果选项右下角箭头输入放大缩小尺寸</a:t>
            </a:r>
            <a:r>
              <a:rPr lang="en-US" altLang="zh-CN" sz="2200" dirty="0"/>
              <a:t>200</a:t>
            </a:r>
            <a:r>
              <a:rPr lang="zh-CN" altLang="en-US" sz="2200" dirty="0"/>
              <a:t>，且自动翻转，如下：</a:t>
            </a:r>
            <a:r>
              <a:rPr lang="en-US" altLang="zh-CN" sz="2200" dirty="0"/>
              <a:t> </a:t>
            </a:r>
            <a:br>
              <a:rPr lang="en-US" altLang="zh-CN" sz="2200" dirty="0"/>
            </a:br>
            <a:endParaRPr lang="zh-CN" altLang="en-US" sz="2200" dirty="0"/>
          </a:p>
        </p:txBody>
      </p:sp>
    </p:spTree>
    <p:extLst>
      <p:ext uri="{BB962C8B-B14F-4D97-AF65-F5344CB8AC3E}">
        <p14:creationId xmlns:p14="http://schemas.microsoft.com/office/powerpoint/2010/main" val="118885900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C5F6DC9-CF0E-488D-9BF9-1AB1FD6469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C9BEDE2E-6144-4CFA-AE64-75219A7B7E4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矩形: 对角圆角 3">
            <a:extLst>
              <a:ext uri="{FF2B5EF4-FFF2-40B4-BE49-F238E27FC236}">
                <a16:creationId xmlns:a16="http://schemas.microsoft.com/office/drawing/2014/main" id="{9829E989-7C84-43A0-A122-CC855E71A28B}"/>
              </a:ext>
            </a:extLst>
          </p:cNvPr>
          <p:cNvSpPr/>
          <p:nvPr/>
        </p:nvSpPr>
        <p:spPr>
          <a:xfrm>
            <a:off x="4882575" y="2994530"/>
            <a:ext cx="1884218" cy="1006764"/>
          </a:xfrm>
          <a:prstGeom prst="round2Diag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/>
              <a:t>放大缩小</a:t>
            </a:r>
            <a:endParaRPr lang="en-US" altLang="zh-CN" dirty="0"/>
          </a:p>
          <a:p>
            <a:pPr algn="ctr"/>
            <a:r>
              <a:rPr lang="zh-CN" altLang="en-US" dirty="0"/>
              <a:t>（大小改变）</a:t>
            </a:r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9646077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6" presetClass="emph" presetSubtype="0" autoRev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6" dur="2000" fill="hold"/>
                                        <p:tgtEl>
                                          <p:spTgt spid="4"/>
                                        </p:tgtEl>
                                      </p:cBhvr>
                                      <p:by x="200000" y="2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65C2D13-5BB3-4EBC-9C2A-D3D602CA21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br>
              <a:rPr lang="en-US" altLang="zh-CN" dirty="0"/>
            </a:br>
            <a:r>
              <a:rPr lang="en-US" altLang="zh-CN" dirty="0"/>
              <a:t>2. </a:t>
            </a:r>
            <a:r>
              <a:rPr lang="zh-CN" altLang="en-US" dirty="0"/>
              <a:t>平滑效果的设置</a:t>
            </a:r>
            <a:br>
              <a:rPr lang="en-US" altLang="zh-CN" dirty="0"/>
            </a:br>
            <a:endParaRPr lang="zh-CN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BF39A055-FBA5-4A37-BFCF-097E3409D2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CA0E7E4D-CBBC-4DDA-93F2-2AF5F1A6DEE1}"/>
              </a:ext>
            </a:extLst>
          </p:cNvPr>
          <p:cNvSpPr/>
          <p:nvPr/>
        </p:nvSpPr>
        <p:spPr>
          <a:xfrm>
            <a:off x="942109" y="2488190"/>
            <a:ext cx="1366982" cy="602673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/>
              <a:t>无平滑</a:t>
            </a:r>
            <a:endParaRPr lang="en-US" altLang="zh-CN" dirty="0"/>
          </a:p>
          <a:p>
            <a:pPr algn="ctr"/>
            <a:r>
              <a:rPr lang="zh-CN" altLang="en-US" dirty="0"/>
              <a:t>（匀速）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DC7E8EA1-E3FE-42C8-B35F-25F1EEF5105A}"/>
              </a:ext>
            </a:extLst>
          </p:cNvPr>
          <p:cNvSpPr/>
          <p:nvPr/>
        </p:nvSpPr>
        <p:spPr>
          <a:xfrm>
            <a:off x="942108" y="3316576"/>
            <a:ext cx="1366983" cy="602673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/>
              <a:t>平滑开始（加速开始）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BF2362AA-B4E7-42CC-AA57-A1F106B2D458}"/>
              </a:ext>
            </a:extLst>
          </p:cNvPr>
          <p:cNvSpPr/>
          <p:nvPr/>
        </p:nvSpPr>
        <p:spPr>
          <a:xfrm>
            <a:off x="942107" y="4123603"/>
            <a:ext cx="1366982" cy="602673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/>
              <a:t>平滑结束（加速结束）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3FB811DB-13EE-4498-9AE3-69F8FA8B7C69}"/>
              </a:ext>
            </a:extLst>
          </p:cNvPr>
          <p:cNvSpPr/>
          <p:nvPr/>
        </p:nvSpPr>
        <p:spPr>
          <a:xfrm>
            <a:off x="942107" y="4951989"/>
            <a:ext cx="1366982" cy="122497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/>
              <a:t>弹跳结束</a:t>
            </a:r>
            <a:endParaRPr lang="en-US" altLang="zh-CN" dirty="0"/>
          </a:p>
          <a:p>
            <a:pPr algn="ctr"/>
            <a:r>
              <a:rPr lang="zh-CN" altLang="en-US" dirty="0"/>
              <a:t>（弹跳结束，有一秒钟作弹跳效果）</a:t>
            </a:r>
          </a:p>
        </p:txBody>
      </p:sp>
    </p:spTree>
    <p:extLst>
      <p:ext uri="{BB962C8B-B14F-4D97-AF65-F5344CB8AC3E}">
        <p14:creationId xmlns:p14="http://schemas.microsoft.com/office/powerpoint/2010/main" val="33279642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iming>
        <p:tnLst>
          <p:par>
            <p:cTn id="1" dur="indefinite" restart="never" nodeType="tmRoot">
              <p:childTnLst>
                <p:seq concurrent="1" nextAc="seek">
                  <p:cTn id="2" dur="indefinite" nodeType="mainSeq">
                    <p:childTnLst>
                      <p:par>
                        <p:cTn id="3" fill="hold">
                          <p:stCondLst>
                            <p:cond delay="indefinite"/>
                          </p:stCondLst>
                          <p:childTnLst>
                            <p:par>
                              <p:cTn id="4" fill="hold">
                                <p:stCondLst>
                                  <p:cond delay="0"/>
                                </p:stCondLst>
                                <p:childTnLst>
                                  <p:par>
                                    <p:cTn id="5" presetID="63" presetClass="path" presetSubtype="0" fill="hold" grpId="0" nodeType="clickEffect">
                                      <p:stCondLst>
                                        <p:cond delay="0"/>
                                      </p:stCondLst>
                                      <p:childTnLst>
                                        <p:animMotion origin="layout" path="M -3.33333E-6 -2.96296E-6 L 0.74089 0.00417 " pathEditMode="relative" rAng="0" ptsTypes="AA">
                                          <p:cBhvr>
                                            <p:cTn id="6" dur="2000" fill="hold"/>
                                            <p:tgtEl>
                                              <p:spTgt spid="4"/>
                                            </p:tgtEl>
                                            <p:attrNameLst>
                                              <p:attrName>ppt_x</p:attrName>
                                              <p:attrName>ppt_y</p:attrName>
                                            </p:attrNameLst>
                                          </p:cBhvr>
                                          <p:rCtr x="37044" y="208"/>
                                        </p:animMotion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</p:childTnLst>
                        </p:cTn>
                      </p:par>
                      <p:par>
                        <p:cTn id="7" fill="hold">
                          <p:stCondLst>
                            <p:cond delay="indefinite"/>
                          </p:stCondLst>
                          <p:childTnLst>
                            <p:par>
                              <p:cTn id="8" fill="hold">
                                <p:stCondLst>
                                  <p:cond delay="0"/>
                                </p:stCondLst>
                                <p:childTnLst>
                                  <p:par>
                                    <p:cTn id="9" presetID="63" presetClass="path" presetSubtype="0" accel="90000" fill="hold" grpId="0" nodeType="clickEffect">
                                      <p:stCondLst>
                                        <p:cond delay="0"/>
                                      </p:stCondLst>
                                      <p:childTnLst>
                                        <p:animMotion origin="layout" path="M -3.33333E-6 3.7037E-6 L 0.74167 -0.00232 " pathEditMode="relative" rAng="0" ptsTypes="AA">
                                          <p:cBhvr>
                                            <p:cTn id="10" dur="2000" fill="hold"/>
                                            <p:tgtEl>
                                              <p:spTgt spid="5"/>
                                            </p:tgtEl>
                                            <p:attrNameLst>
                                              <p:attrName>ppt_x</p:attrName>
                                              <p:attrName>ppt_y</p:attrName>
                                            </p:attrNameLst>
                                          </p:cBhvr>
                                          <p:rCtr x="37083" y="-116"/>
                                        </p:animMotion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</p:childTnLst>
                        </p:cTn>
                      </p:par>
                      <p:par>
                        <p:cTn id="11" fill="hold">
                          <p:stCondLst>
                            <p:cond delay="indefinite"/>
                          </p:stCondLst>
                          <p:childTnLst>
                            <p:par>
                              <p:cTn id="12" fill="hold">
                                <p:stCondLst>
                                  <p:cond delay="0"/>
                                </p:stCondLst>
                                <p:childTnLst>
                                  <p:par>
                                    <p:cTn id="13" presetID="63" presetClass="path" presetSubtype="0" decel="100000" fill="hold" grpId="0" nodeType="clickEffect">
                                      <p:stCondLst>
                                        <p:cond delay="0"/>
                                      </p:stCondLst>
                                      <p:childTnLst>
                                        <p:animMotion origin="layout" path="M -3.33333E-6 1.11111E-6 L 0.74323 0.00532 " pathEditMode="relative" rAng="0" ptsTypes="AA">
                                          <p:cBhvr>
                                            <p:cTn id="14" dur="2000" fill="hold"/>
                                            <p:tgtEl>
                                              <p:spTgt spid="6"/>
                                            </p:tgtEl>
                                            <p:attrNameLst>
                                              <p:attrName>ppt_x</p:attrName>
                                              <p:attrName>ppt_y</p:attrName>
                                            </p:attrNameLst>
                                          </p:cBhvr>
                                          <p:rCtr x="37161" y="255"/>
                                        </p:animMotion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</p:childTnLst>
                        </p:cTn>
                      </p:par>
                      <p:par>
                        <p:cTn id="15" fill="hold">
                          <p:stCondLst>
                            <p:cond delay="indefinite"/>
                          </p:stCondLst>
                          <p:childTnLst>
                            <p:par>
                              <p:cTn id="16" fill="hold">
                                <p:stCondLst>
                                  <p:cond delay="0"/>
                                </p:stCondLst>
                                <p:childTnLst>
                                  <p:par>
                                    <p:cTn id="17" presetID="63" presetClass="path" presetSubtype="0" fill="hold" grpId="0" nodeType="clickEffect" p14:presetBounceEnd="50000">
                                      <p:stCondLst>
                                        <p:cond delay="0"/>
                                      </p:stCondLst>
                                      <p:childTnLst>
                                        <p:animMotion origin="layout" path="M -3.33333E-6 -2.59259E-6 L 0.74167 0.00047 " pathEditMode="relative" rAng="0" ptsTypes="AA" p14:bounceEnd="50000">
                                          <p:cBhvr>
                                            <p:cTn id="18" dur="2000" fill="hold"/>
                                            <p:tgtEl>
                                              <p:spTgt spid="7"/>
                                            </p:tgtEl>
                                            <p:attrNameLst>
                                              <p:attrName>ppt_x</p:attrName>
                                              <p:attrName>ppt_y</p:attrName>
                                            </p:attrNameLst>
                                          </p:cBhvr>
                                          <p:rCtr x="37083" y="23"/>
                                        </p:animMotion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</p:childTnLst>
                        </p:cTn>
                      </p:par>
                    </p:childTnLst>
                  </p:cTn>
                  <p:prevCondLst>
                    <p:cond evt="onPrev" delay="0">
                      <p:tgtEl>
                        <p:sldTgt/>
                      </p:tgtEl>
                    </p:cond>
                  </p:prevCondLst>
                  <p:nextCondLst>
                    <p:cond evt="onNext" delay="0">
                      <p:tgtEl>
                        <p:sldTgt/>
                      </p:tgtEl>
                    </p:cond>
                  </p:nextCondLst>
                </p:seq>
              </p:childTnLst>
            </p:cTn>
          </p:par>
        </p:tnLst>
        <p:bldLst>
          <p:bldP spid="4" grpId="0" animBg="1"/>
          <p:bldP spid="5" grpId="0" animBg="1"/>
          <p:bldP spid="6" grpId="0" animBg="1"/>
          <p:bldP spid="7" grpId="0" animBg="1"/>
        </p:bldLst>
      </p:timing>
    </mc:Choice>
    <mc:Fallback xmlns="">
      <p:timing>
        <p:tnLst>
          <p:par>
            <p:cTn id="1" dur="indefinite" restart="never" nodeType="tmRoot">
              <p:childTnLst>
                <p:seq concurrent="1" nextAc="seek">
                  <p:cTn id="2" dur="indefinite" nodeType="mainSeq">
                    <p:childTnLst>
                      <p:par>
                        <p:cTn id="3" fill="hold">
                          <p:stCondLst>
                            <p:cond delay="indefinite"/>
                          </p:stCondLst>
                          <p:childTnLst>
                            <p:par>
                              <p:cTn id="4" fill="hold">
                                <p:stCondLst>
                                  <p:cond delay="0"/>
                                </p:stCondLst>
                                <p:childTnLst>
                                  <p:par>
                                    <p:cTn id="5" presetID="63" presetClass="path" presetSubtype="0" fill="hold" grpId="0" nodeType="clickEffect">
                                      <p:stCondLst>
                                        <p:cond delay="0"/>
                                      </p:stCondLst>
                                      <p:childTnLst>
                                        <p:animMotion origin="layout" path="M -3.33333E-6 -2.96296E-6 L 0.74089 0.00417 " pathEditMode="relative" rAng="0" ptsTypes="AA">
                                          <p:cBhvr>
                                            <p:cTn id="6" dur="2000" fill="hold"/>
                                            <p:tgtEl>
                                              <p:spTgt spid="4"/>
                                            </p:tgtEl>
                                            <p:attrNameLst>
                                              <p:attrName>ppt_x</p:attrName>
                                              <p:attrName>ppt_y</p:attrName>
                                            </p:attrNameLst>
                                          </p:cBhvr>
                                          <p:rCtr x="37044" y="208"/>
                                        </p:animMotion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</p:childTnLst>
                        </p:cTn>
                      </p:par>
                      <p:par>
                        <p:cTn id="7" fill="hold">
                          <p:stCondLst>
                            <p:cond delay="indefinite"/>
                          </p:stCondLst>
                          <p:childTnLst>
                            <p:par>
                              <p:cTn id="8" fill="hold">
                                <p:stCondLst>
                                  <p:cond delay="0"/>
                                </p:stCondLst>
                                <p:childTnLst>
                                  <p:par>
                                    <p:cTn id="9" presetID="63" presetClass="path" presetSubtype="0" accel="90000" fill="hold" grpId="0" nodeType="clickEffect">
                                      <p:stCondLst>
                                        <p:cond delay="0"/>
                                      </p:stCondLst>
                                      <p:childTnLst>
                                        <p:animMotion origin="layout" path="M -3.33333E-6 3.7037E-6 L 0.74167 -0.00232 " pathEditMode="relative" rAng="0" ptsTypes="AA">
                                          <p:cBhvr>
                                            <p:cTn id="10" dur="2000" fill="hold"/>
                                            <p:tgtEl>
                                              <p:spTgt spid="5"/>
                                            </p:tgtEl>
                                            <p:attrNameLst>
                                              <p:attrName>ppt_x</p:attrName>
                                              <p:attrName>ppt_y</p:attrName>
                                            </p:attrNameLst>
                                          </p:cBhvr>
                                          <p:rCtr x="37083" y="-116"/>
                                        </p:animMotion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</p:childTnLst>
                        </p:cTn>
                      </p:par>
                      <p:par>
                        <p:cTn id="11" fill="hold">
                          <p:stCondLst>
                            <p:cond delay="indefinite"/>
                          </p:stCondLst>
                          <p:childTnLst>
                            <p:par>
                              <p:cTn id="12" fill="hold">
                                <p:stCondLst>
                                  <p:cond delay="0"/>
                                </p:stCondLst>
                                <p:childTnLst>
                                  <p:par>
                                    <p:cTn id="13" presetID="63" presetClass="path" presetSubtype="0" decel="100000" fill="hold" grpId="0" nodeType="clickEffect">
                                      <p:stCondLst>
                                        <p:cond delay="0"/>
                                      </p:stCondLst>
                                      <p:childTnLst>
                                        <p:animMotion origin="layout" path="M -3.33333E-6 1.11111E-6 L 0.74323 0.00532 " pathEditMode="relative" rAng="0" ptsTypes="AA">
                                          <p:cBhvr>
                                            <p:cTn id="14" dur="2000" fill="hold"/>
                                            <p:tgtEl>
                                              <p:spTgt spid="6"/>
                                            </p:tgtEl>
                                            <p:attrNameLst>
                                              <p:attrName>ppt_x</p:attrName>
                                              <p:attrName>ppt_y</p:attrName>
                                            </p:attrNameLst>
                                          </p:cBhvr>
                                          <p:rCtr x="37161" y="255"/>
                                        </p:animMotion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</p:childTnLst>
                        </p:cTn>
                      </p:par>
                      <p:par>
                        <p:cTn id="15" fill="hold">
                          <p:stCondLst>
                            <p:cond delay="indefinite"/>
                          </p:stCondLst>
                          <p:childTnLst>
                            <p:par>
                              <p:cTn id="16" fill="hold">
                                <p:stCondLst>
                                  <p:cond delay="0"/>
                                </p:stCondLst>
                                <p:childTnLst>
                                  <p:par>
                                    <p:cTn id="17" presetID="63" presetClass="path" presetSubtype="0" fill="hold" grpId="0" nodeType="clickEffect">
                                      <p:stCondLst>
                                        <p:cond delay="0"/>
                                      </p:stCondLst>
                                      <p:childTnLst>
                                        <p:animMotion origin="layout" path="M -3.33333E-6 -2.59259E-6 L 0.74167 0.00047 " pathEditMode="relative" rAng="0" ptsTypes="AA">
                                          <p:cBhvr>
                                            <p:cTn id="18" dur="2000" fill="hold"/>
                                            <p:tgtEl>
                                              <p:spTgt spid="7"/>
                                            </p:tgtEl>
                                            <p:attrNameLst>
                                              <p:attrName>ppt_x</p:attrName>
                                              <p:attrName>ppt_y</p:attrName>
                                            </p:attrNameLst>
                                          </p:cBhvr>
                                          <p:rCtr x="37083" y="23"/>
                                        </p:animMotion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</p:childTnLst>
                        </p:cTn>
                      </p:par>
                    </p:childTnLst>
                  </p:cTn>
                  <p:prevCondLst>
                    <p:cond evt="onPrev" delay="0">
                      <p:tgtEl>
                        <p:sldTgt/>
                      </p:tgtEl>
                    </p:cond>
                  </p:prevCondLst>
                  <p:nextCondLst>
                    <p:cond evt="onNext" delay="0">
                      <p:tgtEl>
                        <p:sldTgt/>
                      </p:tgtEl>
                    </p:cond>
                  </p:nextCondLst>
                </p:seq>
              </p:childTnLst>
            </p:cTn>
          </p:par>
        </p:tnLst>
        <p:bldLst>
          <p:bldP spid="4" grpId="0" animBg="1"/>
          <p:bldP spid="5" grpId="0" animBg="1"/>
          <p:bldP spid="6" grpId="0" animBg="1"/>
          <p:bldP spid="7" grpId="0" animBg="1"/>
        </p:bldLst>
      </p:timing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标题 1">
            <a:extLst>
              <a:ext uri="{FF2B5EF4-FFF2-40B4-BE49-F238E27FC236}">
                <a16:creationId xmlns:a16="http://schemas.microsoft.com/office/drawing/2014/main" id="{26E2AC48-A593-46C6-AF61-8997E0FA8C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091093"/>
          </a:xfrm>
        </p:spPr>
        <p:txBody>
          <a:bodyPr>
            <a:normAutofit/>
          </a:bodyPr>
          <a:lstStyle/>
          <a:p>
            <a:r>
              <a:rPr lang="en-US" altLang="zh-CN" sz="2200" b="1" u="sng" dirty="0"/>
              <a:t>Sample 4</a:t>
            </a:r>
            <a:r>
              <a:rPr lang="en-US" altLang="zh-CN" sz="2200" b="1" dirty="0"/>
              <a:t>: </a:t>
            </a:r>
            <a:br>
              <a:rPr lang="en-US" altLang="zh-CN" sz="2200" dirty="0"/>
            </a:br>
            <a:br>
              <a:rPr lang="en-US" altLang="zh-CN" sz="2200" dirty="0"/>
            </a:br>
            <a:r>
              <a:rPr lang="en-US" altLang="zh-CN" sz="2200" dirty="0"/>
              <a:t>1. </a:t>
            </a:r>
            <a:r>
              <a:rPr lang="zh-CN" altLang="en-US" sz="2200" b="1" dirty="0"/>
              <a:t>目标：</a:t>
            </a:r>
            <a:r>
              <a:rPr lang="zh-CN" altLang="en-US" sz="2200" dirty="0"/>
              <a:t>球体坠落</a:t>
            </a:r>
            <a:br>
              <a:rPr lang="en-US" altLang="zh-CN" sz="2200" dirty="0"/>
            </a:br>
            <a:r>
              <a:rPr lang="en-US" altLang="zh-CN" sz="2200" dirty="0"/>
              <a:t>2. </a:t>
            </a:r>
            <a:r>
              <a:rPr lang="zh-CN" altLang="en-US" sz="2200" dirty="0"/>
              <a:t>球体坠落无弹跳存在问题，</a:t>
            </a:r>
            <a:r>
              <a:rPr lang="zh-CN" altLang="en-US" sz="2200" b="1" dirty="0"/>
              <a:t>解决方案：</a:t>
            </a:r>
            <a:r>
              <a:rPr lang="en-US" altLang="zh-CN" sz="2200" dirty="0"/>
              <a:t>A)</a:t>
            </a:r>
            <a:r>
              <a:rPr lang="zh-CN" altLang="en-US" sz="2200" dirty="0"/>
              <a:t> 球体从视界外飞入，选择自顶部，平滑开始，</a:t>
            </a:r>
            <a:r>
              <a:rPr lang="en-US" altLang="zh-CN" sz="2200" dirty="0"/>
              <a:t>B) </a:t>
            </a:r>
            <a:r>
              <a:rPr lang="zh-CN" altLang="en-US" sz="2200" dirty="0"/>
              <a:t>碰到地面后会反弹，添加动画，选择路径动画，所以添加直线路径，</a:t>
            </a:r>
            <a:r>
              <a:rPr lang="en-US" altLang="zh-CN" sz="2200" dirty="0"/>
              <a:t>C)</a:t>
            </a:r>
            <a:r>
              <a:rPr lang="zh-CN" altLang="en-US" sz="2200" dirty="0"/>
              <a:t> 第二个动画延迟</a:t>
            </a:r>
            <a:r>
              <a:rPr lang="en-US" altLang="zh-CN" sz="2200" dirty="0"/>
              <a:t>0.5</a:t>
            </a:r>
            <a:r>
              <a:rPr lang="zh-CN" altLang="en-US" sz="2200" dirty="0"/>
              <a:t>秒，持续时间</a:t>
            </a:r>
            <a:r>
              <a:rPr lang="en-US" altLang="zh-CN" sz="2200" dirty="0"/>
              <a:t>0.5</a:t>
            </a:r>
            <a:r>
              <a:rPr lang="zh-CN" altLang="en-US" sz="2200" dirty="0"/>
              <a:t>秒，</a:t>
            </a:r>
            <a:r>
              <a:rPr lang="en-US" altLang="zh-CN" sz="2200" dirty="0"/>
              <a:t>D)</a:t>
            </a:r>
            <a:r>
              <a:rPr lang="zh-CN" altLang="en-US" sz="2200" dirty="0"/>
              <a:t> 第二个动画平滑结束，如下：</a:t>
            </a:r>
            <a:r>
              <a:rPr lang="en-US" altLang="zh-CN" sz="2200" dirty="0"/>
              <a:t> </a:t>
            </a:r>
            <a:br>
              <a:rPr lang="en-US" altLang="zh-CN" sz="2200" dirty="0"/>
            </a:br>
            <a:endParaRPr lang="zh-CN" altLang="en-US" sz="2200" dirty="0"/>
          </a:p>
        </p:txBody>
      </p:sp>
    </p:spTree>
    <p:extLst>
      <p:ext uri="{BB962C8B-B14F-4D97-AF65-F5344CB8AC3E}">
        <p14:creationId xmlns:p14="http://schemas.microsoft.com/office/powerpoint/2010/main" val="109268099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D064980-B5C1-4DDF-921E-01756B4DBE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B7AD2026-1B29-48A3-99B0-48C73B5C406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流程图: 接点 3">
            <a:extLst>
              <a:ext uri="{FF2B5EF4-FFF2-40B4-BE49-F238E27FC236}">
                <a16:creationId xmlns:a16="http://schemas.microsoft.com/office/drawing/2014/main" id="{BCC63270-4788-4895-8216-FF1CF710B541}"/>
              </a:ext>
            </a:extLst>
          </p:cNvPr>
          <p:cNvSpPr/>
          <p:nvPr/>
        </p:nvSpPr>
        <p:spPr>
          <a:xfrm>
            <a:off x="5271030" y="4787016"/>
            <a:ext cx="738909" cy="618837"/>
          </a:xfrm>
          <a:prstGeom prst="flowChartConnector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dirty="0"/>
              <a:t>球体</a:t>
            </a:r>
          </a:p>
        </p:txBody>
      </p:sp>
    </p:spTree>
    <p:extLst>
      <p:ext uri="{BB962C8B-B14F-4D97-AF65-F5344CB8AC3E}">
        <p14:creationId xmlns:p14="http://schemas.microsoft.com/office/powerpoint/2010/main" val="13379777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1" accel="52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42" presetClass="path" presetSubtype="0" decel="100000" fill="hold" grpId="1" nodeType="withEffect">
                                  <p:stCondLst>
                                    <p:cond delay="500"/>
                                  </p:stCondLst>
                                  <p:childTnLst>
                                    <p:animMotion origin="layout" path="M -2.08333E-7 4.44444E-6 L 0.00143 -0.16899 " pathEditMode="relative" rAng="0" ptsTypes="AA">
                                      <p:cBhvr>
                                        <p:cTn id="10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65" y="-8449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4" grpId="1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65C2D13-5BB3-4EBC-9C2A-D3D602CA21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br>
              <a:rPr lang="en-US" altLang="zh-CN" dirty="0"/>
            </a:br>
            <a:br>
              <a:rPr lang="en-US" altLang="zh-CN" dirty="0"/>
            </a:br>
            <a:r>
              <a:rPr lang="en-US" altLang="zh-CN" dirty="0"/>
              <a:t>3. </a:t>
            </a:r>
            <a:r>
              <a:rPr lang="zh-CN" altLang="en-US" dirty="0"/>
              <a:t>制作</a:t>
            </a:r>
            <a:r>
              <a:rPr lang="en-US" altLang="zh-CN" dirty="0"/>
              <a:t>MG</a:t>
            </a:r>
            <a:r>
              <a:rPr lang="zh-CN" altLang="en-US" dirty="0"/>
              <a:t>修饰元素</a:t>
            </a:r>
            <a:br>
              <a:rPr lang="zh-CN" altLang="en-US" dirty="0"/>
            </a:br>
            <a:br>
              <a:rPr lang="en-US" altLang="zh-CN" dirty="0"/>
            </a:br>
            <a:endParaRPr lang="zh-CN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BF39A055-FBA5-4A37-BFCF-097E3409D2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CN" dirty="0"/>
              <a:t>1. </a:t>
            </a:r>
            <a:r>
              <a:rPr lang="zh-CN" altLang="en-US" dirty="0"/>
              <a:t>安装</a:t>
            </a:r>
            <a:r>
              <a:rPr lang="en-US" altLang="zh-CN" dirty="0" err="1"/>
              <a:t>iSlide</a:t>
            </a:r>
            <a:r>
              <a:rPr lang="zh-CN" altLang="en-US" dirty="0"/>
              <a:t>插件（点击</a:t>
            </a:r>
            <a:r>
              <a:rPr lang="en-US" altLang="zh-CN" dirty="0" err="1"/>
              <a:t>iSlide</a:t>
            </a:r>
            <a:r>
              <a:rPr lang="zh-CN" altLang="en-US" dirty="0"/>
              <a:t>，数量设置为</a:t>
            </a:r>
            <a:r>
              <a:rPr lang="en-US" altLang="zh-CN" dirty="0"/>
              <a:t>8</a:t>
            </a:r>
            <a:r>
              <a:rPr lang="zh-CN" altLang="en-US" dirty="0"/>
              <a:t>，起始角度</a:t>
            </a:r>
            <a:r>
              <a:rPr lang="en-US" altLang="zh-CN" dirty="0"/>
              <a:t>1</a:t>
            </a:r>
            <a:r>
              <a:rPr lang="zh-CN" altLang="en-US" dirty="0"/>
              <a:t>，半径单位毫米，布局半径</a:t>
            </a:r>
            <a:r>
              <a:rPr lang="en-US" altLang="zh-CN" dirty="0"/>
              <a:t>30</a:t>
            </a:r>
            <a:r>
              <a:rPr lang="zh-CN" altLang="en-US" dirty="0"/>
              <a:t>，自动旋转，中间删除，</a:t>
            </a:r>
            <a:r>
              <a:rPr lang="en-US" altLang="zh-CN" dirty="0"/>
              <a:t>Control + G </a:t>
            </a:r>
            <a:r>
              <a:rPr lang="zh-CN" altLang="en-US" dirty="0"/>
              <a:t>组合在一起）</a:t>
            </a:r>
          </a:p>
        </p:txBody>
      </p:sp>
      <p:sp>
        <p:nvSpPr>
          <p:cNvPr id="15" name="内容占位符 2">
            <a:extLst>
              <a:ext uri="{FF2B5EF4-FFF2-40B4-BE49-F238E27FC236}">
                <a16:creationId xmlns:a16="http://schemas.microsoft.com/office/drawing/2014/main" id="{D224EADD-D73D-40FC-8B81-65654D430078}"/>
              </a:ext>
            </a:extLst>
          </p:cNvPr>
          <p:cNvSpPr txBox="1">
            <a:spLocks/>
          </p:cNvSpPr>
          <p:nvPr/>
        </p:nvSpPr>
        <p:spPr>
          <a:xfrm rot="5400000">
            <a:off x="838200" y="-868997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/>
              <a:t>1. </a:t>
            </a:r>
            <a:r>
              <a:rPr lang="zh-CN" altLang="en-US"/>
              <a:t>安装</a:t>
            </a:r>
            <a:r>
              <a:rPr lang="en-US" altLang="zh-CN"/>
              <a:t>iSlide</a:t>
            </a:r>
            <a:r>
              <a:rPr lang="zh-CN" altLang="en-US"/>
              <a:t>插件</a:t>
            </a:r>
            <a:endParaRPr lang="zh-CN" altLang="en-US" dirty="0"/>
          </a:p>
        </p:txBody>
      </p:sp>
      <p:sp>
        <p:nvSpPr>
          <p:cNvPr id="16" name="内容占位符 2">
            <a:extLst>
              <a:ext uri="{FF2B5EF4-FFF2-40B4-BE49-F238E27FC236}">
                <a16:creationId xmlns:a16="http://schemas.microsoft.com/office/drawing/2014/main" id="{810AE8CE-1EAF-4EB0-AE29-F2A5960CFB16}"/>
              </a:ext>
            </a:extLst>
          </p:cNvPr>
          <p:cNvSpPr txBox="1">
            <a:spLocks/>
          </p:cNvSpPr>
          <p:nvPr/>
        </p:nvSpPr>
        <p:spPr>
          <a:xfrm rot="5400000">
            <a:off x="9059627" y="-4730744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/>
              <a:t>1. </a:t>
            </a:r>
            <a:r>
              <a:rPr lang="zh-CN" altLang="en-US"/>
              <a:t>安装</a:t>
            </a:r>
            <a:r>
              <a:rPr lang="en-US" altLang="zh-CN"/>
              <a:t>iSlide</a:t>
            </a:r>
            <a:r>
              <a:rPr lang="zh-CN" altLang="en-US"/>
              <a:t>插件</a:t>
            </a:r>
            <a:endParaRPr lang="zh-CN" altLang="en-US" dirty="0"/>
          </a:p>
        </p:txBody>
      </p:sp>
      <p:sp>
        <p:nvSpPr>
          <p:cNvPr id="17" name="内容占位符 2">
            <a:extLst>
              <a:ext uri="{FF2B5EF4-FFF2-40B4-BE49-F238E27FC236}">
                <a16:creationId xmlns:a16="http://schemas.microsoft.com/office/drawing/2014/main" id="{319B7B76-C40A-45F7-A721-7161417982BD}"/>
              </a:ext>
            </a:extLst>
          </p:cNvPr>
          <p:cNvSpPr txBox="1">
            <a:spLocks/>
          </p:cNvSpPr>
          <p:nvPr/>
        </p:nvSpPr>
        <p:spPr>
          <a:xfrm rot="5400000">
            <a:off x="11090152" y="4165566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/>
              <a:t>1. </a:t>
            </a:r>
            <a:r>
              <a:rPr lang="zh-CN" altLang="en-US"/>
              <a:t>安装</a:t>
            </a:r>
            <a:r>
              <a:rPr lang="en-US" altLang="zh-CN"/>
              <a:t>iSlide</a:t>
            </a:r>
            <a:r>
              <a:rPr lang="zh-CN" altLang="en-US"/>
              <a:t>插件</a:t>
            </a:r>
            <a:endParaRPr lang="zh-CN" altLang="en-US" dirty="0"/>
          </a:p>
        </p:txBody>
      </p:sp>
      <p:sp>
        <p:nvSpPr>
          <p:cNvPr id="18" name="内容占位符 2">
            <a:extLst>
              <a:ext uri="{FF2B5EF4-FFF2-40B4-BE49-F238E27FC236}">
                <a16:creationId xmlns:a16="http://schemas.microsoft.com/office/drawing/2014/main" id="{2E90728E-E52D-40C9-B13E-A66C4ED30349}"/>
              </a:ext>
            </a:extLst>
          </p:cNvPr>
          <p:cNvSpPr txBox="1">
            <a:spLocks/>
          </p:cNvSpPr>
          <p:nvPr/>
        </p:nvSpPr>
        <p:spPr>
          <a:xfrm rot="5400000">
            <a:off x="5400748" y="11299853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/>
              <a:t>1. </a:t>
            </a:r>
            <a:r>
              <a:rPr lang="zh-CN" altLang="en-US"/>
              <a:t>安装</a:t>
            </a:r>
            <a:r>
              <a:rPr lang="en-US" altLang="zh-CN"/>
              <a:t>iSlide</a:t>
            </a:r>
            <a:r>
              <a:rPr lang="zh-CN" altLang="en-US"/>
              <a:t>插件</a:t>
            </a:r>
            <a:endParaRPr lang="zh-CN" altLang="en-US" dirty="0"/>
          </a:p>
        </p:txBody>
      </p:sp>
      <p:sp>
        <p:nvSpPr>
          <p:cNvPr id="19" name="内容占位符 2">
            <a:extLst>
              <a:ext uri="{FF2B5EF4-FFF2-40B4-BE49-F238E27FC236}">
                <a16:creationId xmlns:a16="http://schemas.microsoft.com/office/drawing/2014/main" id="{C5B62515-7E9F-40D2-BD28-224B71CB6250}"/>
              </a:ext>
            </a:extLst>
          </p:cNvPr>
          <p:cNvSpPr txBox="1">
            <a:spLocks/>
          </p:cNvSpPr>
          <p:nvPr/>
        </p:nvSpPr>
        <p:spPr>
          <a:xfrm rot="5400000">
            <a:off x="-3724348" y="11299853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dirty="0"/>
              <a:t>1. </a:t>
            </a:r>
            <a:r>
              <a:rPr lang="zh-CN" altLang="en-US" dirty="0"/>
              <a:t>安装</a:t>
            </a:r>
            <a:r>
              <a:rPr lang="en-US" altLang="zh-CN" dirty="0" err="1"/>
              <a:t>iSlide</a:t>
            </a:r>
            <a:r>
              <a:rPr lang="zh-CN" altLang="en-US" dirty="0"/>
              <a:t>插件</a:t>
            </a:r>
          </a:p>
        </p:txBody>
      </p:sp>
      <p:sp>
        <p:nvSpPr>
          <p:cNvPr id="20" name="内容占位符 2">
            <a:extLst>
              <a:ext uri="{FF2B5EF4-FFF2-40B4-BE49-F238E27FC236}">
                <a16:creationId xmlns:a16="http://schemas.microsoft.com/office/drawing/2014/main" id="{E03593A4-8686-4622-809B-FD2B9FD17E22}"/>
              </a:ext>
            </a:extLst>
          </p:cNvPr>
          <p:cNvSpPr txBox="1">
            <a:spLocks/>
          </p:cNvSpPr>
          <p:nvPr/>
        </p:nvSpPr>
        <p:spPr>
          <a:xfrm rot="5400000">
            <a:off x="-9413752" y="4165566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/>
              <a:t>1. </a:t>
            </a:r>
            <a:r>
              <a:rPr lang="zh-CN" altLang="en-US"/>
              <a:t>安装</a:t>
            </a:r>
            <a:r>
              <a:rPr lang="en-US" altLang="zh-CN"/>
              <a:t>iSlide</a:t>
            </a:r>
            <a:r>
              <a:rPr lang="zh-CN" altLang="en-US"/>
              <a:t>插件</a:t>
            </a:r>
            <a:endParaRPr lang="zh-CN" altLang="en-US" dirty="0"/>
          </a:p>
        </p:txBody>
      </p:sp>
      <p:sp>
        <p:nvSpPr>
          <p:cNvPr id="21" name="内容占位符 2">
            <a:extLst>
              <a:ext uri="{FF2B5EF4-FFF2-40B4-BE49-F238E27FC236}">
                <a16:creationId xmlns:a16="http://schemas.microsoft.com/office/drawing/2014/main" id="{94B5CA80-1172-429C-8034-FDD4BBA95217}"/>
              </a:ext>
            </a:extLst>
          </p:cNvPr>
          <p:cNvSpPr txBox="1">
            <a:spLocks/>
          </p:cNvSpPr>
          <p:nvPr/>
        </p:nvSpPr>
        <p:spPr>
          <a:xfrm rot="5400000">
            <a:off x="-7383227" y="-4730744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/>
              <a:t>1. </a:t>
            </a:r>
            <a:r>
              <a:rPr lang="zh-CN" altLang="en-US"/>
              <a:t>安装</a:t>
            </a:r>
            <a:r>
              <a:rPr lang="en-US" altLang="zh-CN"/>
              <a:t>iSlide</a:t>
            </a:r>
            <a:r>
              <a:rPr lang="zh-CN" altLang="en-US"/>
              <a:t>插件</a:t>
            </a:r>
            <a:endParaRPr lang="zh-CN" altLang="en-US" dirty="0"/>
          </a:p>
        </p:txBody>
      </p:sp>
      <p:grpSp>
        <p:nvGrpSpPr>
          <p:cNvPr id="5" name="组合 4">
            <a:extLst>
              <a:ext uri="{FF2B5EF4-FFF2-40B4-BE49-F238E27FC236}">
                <a16:creationId xmlns:a16="http://schemas.microsoft.com/office/drawing/2014/main" id="{30D5AE51-37E3-49FB-BF4E-820427FCDD7C}"/>
              </a:ext>
            </a:extLst>
          </p:cNvPr>
          <p:cNvGrpSpPr/>
          <p:nvPr/>
        </p:nvGrpSpPr>
        <p:grpSpPr>
          <a:xfrm>
            <a:off x="4553917" y="3044490"/>
            <a:ext cx="2886942" cy="2886942"/>
            <a:chOff x="4553917" y="3044490"/>
            <a:chExt cx="2886942" cy="2886942"/>
          </a:xfrm>
        </p:grpSpPr>
        <p:cxnSp>
          <p:nvCxnSpPr>
            <p:cNvPr id="23" name="直接连接符 22">
              <a:extLst>
                <a:ext uri="{FF2B5EF4-FFF2-40B4-BE49-F238E27FC236}">
                  <a16:creationId xmlns:a16="http://schemas.microsoft.com/office/drawing/2014/main" id="{CD1CCA02-91DE-45EF-BB1C-B799A301D3E7}"/>
                </a:ext>
              </a:extLst>
            </p:cNvPr>
            <p:cNvCxnSpPr>
              <a:cxnSpLocks/>
            </p:cNvCxnSpPr>
            <p:nvPr/>
          </p:nvCxnSpPr>
          <p:spPr>
            <a:xfrm rot="60000">
              <a:off x="6016237" y="3044490"/>
              <a:ext cx="0" cy="727271"/>
            </a:xfrm>
            <a:prstGeom prst="line">
              <a:avLst/>
            </a:prstGeom>
            <a:ln/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24" name="直接连接符 23">
              <a:extLst>
                <a:ext uri="{FF2B5EF4-FFF2-40B4-BE49-F238E27FC236}">
                  <a16:creationId xmlns:a16="http://schemas.microsoft.com/office/drawing/2014/main" id="{2214C67F-57B3-4DE8-A6B4-35653D1B1922}"/>
                </a:ext>
              </a:extLst>
            </p:cNvPr>
            <p:cNvCxnSpPr>
              <a:cxnSpLocks/>
            </p:cNvCxnSpPr>
            <p:nvPr/>
          </p:nvCxnSpPr>
          <p:spPr>
            <a:xfrm rot="2760000">
              <a:off x="6774275" y="3374094"/>
              <a:ext cx="0" cy="727271"/>
            </a:xfrm>
            <a:prstGeom prst="line">
              <a:avLst/>
            </a:prstGeom>
            <a:ln/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25" name="直接连接符 24">
              <a:extLst>
                <a:ext uri="{FF2B5EF4-FFF2-40B4-BE49-F238E27FC236}">
                  <a16:creationId xmlns:a16="http://schemas.microsoft.com/office/drawing/2014/main" id="{7B5C2A46-6AB6-456D-92A7-A812F0DA88B3}"/>
                </a:ext>
              </a:extLst>
            </p:cNvPr>
            <p:cNvCxnSpPr>
              <a:cxnSpLocks/>
            </p:cNvCxnSpPr>
            <p:nvPr/>
          </p:nvCxnSpPr>
          <p:spPr>
            <a:xfrm rot="5460000">
              <a:off x="7077224" y="4143173"/>
              <a:ext cx="0" cy="727271"/>
            </a:xfrm>
            <a:prstGeom prst="line">
              <a:avLst/>
            </a:prstGeom>
            <a:ln/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26" name="直接连接符 25">
              <a:extLst>
                <a:ext uri="{FF2B5EF4-FFF2-40B4-BE49-F238E27FC236}">
                  <a16:creationId xmlns:a16="http://schemas.microsoft.com/office/drawing/2014/main" id="{92F06542-D18F-468A-8E02-6BF3EC07EC3D}"/>
                </a:ext>
              </a:extLst>
            </p:cNvPr>
            <p:cNvCxnSpPr>
              <a:cxnSpLocks/>
            </p:cNvCxnSpPr>
            <p:nvPr/>
          </p:nvCxnSpPr>
          <p:spPr>
            <a:xfrm rot="8160000">
              <a:off x="6747619" y="4901212"/>
              <a:ext cx="0" cy="727271"/>
            </a:xfrm>
            <a:prstGeom prst="line">
              <a:avLst/>
            </a:prstGeom>
            <a:ln/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27" name="直接连接符 26">
              <a:extLst>
                <a:ext uri="{FF2B5EF4-FFF2-40B4-BE49-F238E27FC236}">
                  <a16:creationId xmlns:a16="http://schemas.microsoft.com/office/drawing/2014/main" id="{D5D6D026-D6BE-460C-ABE3-EFC8D75D4457}"/>
                </a:ext>
              </a:extLst>
            </p:cNvPr>
            <p:cNvCxnSpPr>
              <a:cxnSpLocks/>
            </p:cNvCxnSpPr>
            <p:nvPr/>
          </p:nvCxnSpPr>
          <p:spPr>
            <a:xfrm rot="10860000">
              <a:off x="5978540" y="5204161"/>
              <a:ext cx="0" cy="727271"/>
            </a:xfrm>
            <a:prstGeom prst="line">
              <a:avLst/>
            </a:prstGeom>
            <a:ln/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28" name="直接连接符 27">
              <a:extLst>
                <a:ext uri="{FF2B5EF4-FFF2-40B4-BE49-F238E27FC236}">
                  <a16:creationId xmlns:a16="http://schemas.microsoft.com/office/drawing/2014/main" id="{73FB6EA5-118E-4ECE-8E98-161577F680D2}"/>
                </a:ext>
              </a:extLst>
            </p:cNvPr>
            <p:cNvCxnSpPr>
              <a:cxnSpLocks/>
            </p:cNvCxnSpPr>
            <p:nvPr/>
          </p:nvCxnSpPr>
          <p:spPr>
            <a:xfrm rot="13560000">
              <a:off x="5220501" y="4874556"/>
              <a:ext cx="0" cy="727271"/>
            </a:xfrm>
            <a:prstGeom prst="line">
              <a:avLst/>
            </a:prstGeom>
            <a:ln/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29" name="直接连接符 28">
              <a:extLst>
                <a:ext uri="{FF2B5EF4-FFF2-40B4-BE49-F238E27FC236}">
                  <a16:creationId xmlns:a16="http://schemas.microsoft.com/office/drawing/2014/main" id="{73ED7142-1FAE-46B8-98D1-13BCB6955555}"/>
                </a:ext>
              </a:extLst>
            </p:cNvPr>
            <p:cNvCxnSpPr>
              <a:cxnSpLocks/>
            </p:cNvCxnSpPr>
            <p:nvPr/>
          </p:nvCxnSpPr>
          <p:spPr>
            <a:xfrm rot="16260000">
              <a:off x="4917553" y="4105477"/>
              <a:ext cx="0" cy="727271"/>
            </a:xfrm>
            <a:prstGeom prst="line">
              <a:avLst/>
            </a:prstGeom>
            <a:ln/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30" name="直接连接符 29">
              <a:extLst>
                <a:ext uri="{FF2B5EF4-FFF2-40B4-BE49-F238E27FC236}">
                  <a16:creationId xmlns:a16="http://schemas.microsoft.com/office/drawing/2014/main" id="{16372618-8240-495A-833A-67782523510D}"/>
                </a:ext>
              </a:extLst>
            </p:cNvPr>
            <p:cNvCxnSpPr>
              <a:cxnSpLocks/>
            </p:cNvCxnSpPr>
            <p:nvPr/>
          </p:nvCxnSpPr>
          <p:spPr>
            <a:xfrm rot="18960000">
              <a:off x="5247157" y="3347438"/>
              <a:ext cx="0" cy="727271"/>
            </a:xfrm>
            <a:prstGeom prst="line">
              <a:avLst/>
            </a:prstGeom>
            <a:ln/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92372860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01ED800-317F-4F76-8DF7-47B0B0DC2D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00B1559F-6E7C-4769-8957-0F5E6AC7F6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CN" dirty="0"/>
              <a:t>1. </a:t>
            </a:r>
            <a:r>
              <a:rPr lang="en-US" altLang="zh-CN" dirty="0" err="1"/>
              <a:t>Control+G</a:t>
            </a:r>
            <a:r>
              <a:rPr lang="zh-CN" altLang="en-US" dirty="0"/>
              <a:t>合并成一个图</a:t>
            </a:r>
            <a:endParaRPr lang="en-US" altLang="zh-CN" dirty="0"/>
          </a:p>
          <a:p>
            <a:endParaRPr lang="zh-CN" altLang="en-US" dirty="0"/>
          </a:p>
        </p:txBody>
      </p:sp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1AF53A2C-BC23-48B5-AD7D-0E4081B5B29D}"/>
              </a:ext>
            </a:extLst>
          </p:cNvPr>
          <p:cNvCxnSpPr/>
          <p:nvPr/>
        </p:nvCxnSpPr>
        <p:spPr>
          <a:xfrm>
            <a:off x="4882925" y="4027055"/>
            <a:ext cx="1006763" cy="0"/>
          </a:xfrm>
          <a:prstGeom prst="line">
            <a:avLst/>
          </a:prstGeom>
          <a:ln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EA9762C7-77F7-4EEE-AE82-E5827284F4A2}"/>
              </a:ext>
            </a:extLst>
          </p:cNvPr>
          <p:cNvCxnSpPr>
            <a:cxnSpLocks/>
          </p:cNvCxnSpPr>
          <p:nvPr/>
        </p:nvCxnSpPr>
        <p:spPr>
          <a:xfrm rot="16200000">
            <a:off x="4878308" y="4027054"/>
            <a:ext cx="1006763" cy="0"/>
          </a:xfrm>
          <a:prstGeom prst="line">
            <a:avLst/>
          </a:prstGeom>
          <a:ln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7" name="直接连接符 6">
            <a:extLst>
              <a:ext uri="{FF2B5EF4-FFF2-40B4-BE49-F238E27FC236}">
                <a16:creationId xmlns:a16="http://schemas.microsoft.com/office/drawing/2014/main" id="{13BBCE85-EC02-462F-B4A8-84C4AE458D68}"/>
              </a:ext>
            </a:extLst>
          </p:cNvPr>
          <p:cNvCxnSpPr>
            <a:cxnSpLocks/>
          </p:cNvCxnSpPr>
          <p:nvPr/>
        </p:nvCxnSpPr>
        <p:spPr>
          <a:xfrm rot="18540000">
            <a:off x="4879786" y="4027053"/>
            <a:ext cx="1006763" cy="0"/>
          </a:xfrm>
          <a:prstGeom prst="line">
            <a:avLst/>
          </a:prstGeom>
          <a:ln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" name="直接连接符 7">
            <a:extLst>
              <a:ext uri="{FF2B5EF4-FFF2-40B4-BE49-F238E27FC236}">
                <a16:creationId xmlns:a16="http://schemas.microsoft.com/office/drawing/2014/main" id="{93F44054-20B4-4E9B-83DF-471B712A985A}"/>
              </a:ext>
            </a:extLst>
          </p:cNvPr>
          <p:cNvCxnSpPr>
            <a:cxnSpLocks/>
          </p:cNvCxnSpPr>
          <p:nvPr/>
        </p:nvCxnSpPr>
        <p:spPr>
          <a:xfrm rot="24420000">
            <a:off x="4878308" y="4027053"/>
            <a:ext cx="1006763" cy="0"/>
          </a:xfrm>
          <a:prstGeom prst="line">
            <a:avLst/>
          </a:prstGeom>
          <a:ln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5730073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01ED800-317F-4F76-8DF7-47B0B0DC2D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00B1559F-6E7C-4769-8957-0F5E6AC7F6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CN" dirty="0"/>
              <a:t>2. </a:t>
            </a:r>
            <a:r>
              <a:rPr lang="zh-CN" altLang="en-US" dirty="0"/>
              <a:t>添加动画</a:t>
            </a:r>
            <a:r>
              <a:rPr lang="en-US" altLang="zh-CN" dirty="0"/>
              <a:t>-&gt;</a:t>
            </a:r>
            <a:r>
              <a:rPr lang="zh-CN" altLang="en-US" dirty="0"/>
              <a:t>更多进入效果</a:t>
            </a:r>
            <a:r>
              <a:rPr lang="en-US" altLang="zh-CN" dirty="0"/>
              <a:t>-&gt;</a:t>
            </a:r>
            <a:r>
              <a:rPr lang="zh-CN" altLang="en-US" dirty="0"/>
              <a:t>温和，基本缩放</a:t>
            </a:r>
            <a:endParaRPr lang="en-US" altLang="zh-CN" dirty="0"/>
          </a:p>
          <a:p>
            <a:endParaRPr lang="zh-CN" altLang="en-US" dirty="0"/>
          </a:p>
        </p:txBody>
      </p:sp>
      <p:grpSp>
        <p:nvGrpSpPr>
          <p:cNvPr id="4" name="组合 3">
            <a:extLst>
              <a:ext uri="{FF2B5EF4-FFF2-40B4-BE49-F238E27FC236}">
                <a16:creationId xmlns:a16="http://schemas.microsoft.com/office/drawing/2014/main" id="{65469023-AA89-4F7C-AA47-4D3B793F5AB7}"/>
              </a:ext>
            </a:extLst>
          </p:cNvPr>
          <p:cNvGrpSpPr/>
          <p:nvPr/>
        </p:nvGrpSpPr>
        <p:grpSpPr>
          <a:xfrm>
            <a:off x="4882925" y="3523671"/>
            <a:ext cx="1006763" cy="1006764"/>
            <a:chOff x="4882925" y="3523671"/>
            <a:chExt cx="1006763" cy="1006764"/>
          </a:xfrm>
        </p:grpSpPr>
        <p:cxnSp>
          <p:nvCxnSpPr>
            <p:cNvPr id="5" name="直接连接符 4">
              <a:extLst>
                <a:ext uri="{FF2B5EF4-FFF2-40B4-BE49-F238E27FC236}">
                  <a16:creationId xmlns:a16="http://schemas.microsoft.com/office/drawing/2014/main" id="{1AF53A2C-BC23-48B5-AD7D-0E4081B5B29D}"/>
                </a:ext>
              </a:extLst>
            </p:cNvPr>
            <p:cNvCxnSpPr/>
            <p:nvPr/>
          </p:nvCxnSpPr>
          <p:spPr>
            <a:xfrm>
              <a:off x="4882925" y="4027055"/>
              <a:ext cx="1006763" cy="0"/>
            </a:xfrm>
            <a:prstGeom prst="line">
              <a:avLst/>
            </a:prstGeom>
            <a:ln/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6" name="直接连接符 5">
              <a:extLst>
                <a:ext uri="{FF2B5EF4-FFF2-40B4-BE49-F238E27FC236}">
                  <a16:creationId xmlns:a16="http://schemas.microsoft.com/office/drawing/2014/main" id="{EA9762C7-77F7-4EEE-AE82-E5827284F4A2}"/>
                </a:ext>
              </a:extLst>
            </p:cNvPr>
            <p:cNvCxnSpPr>
              <a:cxnSpLocks/>
            </p:cNvCxnSpPr>
            <p:nvPr/>
          </p:nvCxnSpPr>
          <p:spPr>
            <a:xfrm rot="16200000">
              <a:off x="4878308" y="4027054"/>
              <a:ext cx="1006763" cy="0"/>
            </a:xfrm>
            <a:prstGeom prst="line">
              <a:avLst/>
            </a:prstGeom>
            <a:ln/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7" name="直接连接符 6">
              <a:extLst>
                <a:ext uri="{FF2B5EF4-FFF2-40B4-BE49-F238E27FC236}">
                  <a16:creationId xmlns:a16="http://schemas.microsoft.com/office/drawing/2014/main" id="{13BBCE85-EC02-462F-B4A8-84C4AE458D68}"/>
                </a:ext>
              </a:extLst>
            </p:cNvPr>
            <p:cNvCxnSpPr>
              <a:cxnSpLocks/>
            </p:cNvCxnSpPr>
            <p:nvPr/>
          </p:nvCxnSpPr>
          <p:spPr>
            <a:xfrm rot="18540000">
              <a:off x="4879786" y="4027053"/>
              <a:ext cx="1006763" cy="0"/>
            </a:xfrm>
            <a:prstGeom prst="line">
              <a:avLst/>
            </a:prstGeom>
            <a:ln/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8" name="直接连接符 7">
              <a:extLst>
                <a:ext uri="{FF2B5EF4-FFF2-40B4-BE49-F238E27FC236}">
                  <a16:creationId xmlns:a16="http://schemas.microsoft.com/office/drawing/2014/main" id="{93F44054-20B4-4E9B-83DF-471B712A985A}"/>
                </a:ext>
              </a:extLst>
            </p:cNvPr>
            <p:cNvCxnSpPr>
              <a:cxnSpLocks/>
            </p:cNvCxnSpPr>
            <p:nvPr/>
          </p:nvCxnSpPr>
          <p:spPr>
            <a:xfrm rot="24420000">
              <a:off x="4878308" y="4027053"/>
              <a:ext cx="1006763" cy="0"/>
            </a:xfrm>
            <a:prstGeom prst="line">
              <a:avLst/>
            </a:prstGeom>
            <a:ln/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758832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01ED800-317F-4F76-8DF7-47B0B0DC2D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00B1559F-6E7C-4769-8957-0F5E6AC7F6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CN" dirty="0"/>
              <a:t>3. </a:t>
            </a:r>
            <a:r>
              <a:rPr lang="zh-CN" altLang="en-US" dirty="0"/>
              <a:t>添加动画</a:t>
            </a:r>
            <a:r>
              <a:rPr lang="en-US" altLang="zh-CN" dirty="0"/>
              <a:t>-&gt;</a:t>
            </a:r>
            <a:r>
              <a:rPr lang="zh-CN" altLang="en-US" dirty="0"/>
              <a:t>退出动画</a:t>
            </a:r>
            <a:r>
              <a:rPr lang="en-US" altLang="zh-CN" dirty="0"/>
              <a:t>-&gt;</a:t>
            </a:r>
            <a:r>
              <a:rPr lang="zh-CN" altLang="en-US" dirty="0"/>
              <a:t>形状</a:t>
            </a:r>
            <a:endParaRPr lang="en-US" altLang="zh-CN" dirty="0"/>
          </a:p>
          <a:p>
            <a:r>
              <a:rPr lang="en-US" altLang="zh-CN" dirty="0"/>
              <a:t>4. </a:t>
            </a:r>
            <a:r>
              <a:rPr lang="zh-CN" altLang="en-US" dirty="0"/>
              <a:t>调节控制时间得到最佳效果</a:t>
            </a:r>
            <a:endParaRPr lang="en-US" altLang="zh-CN" dirty="0"/>
          </a:p>
          <a:p>
            <a:endParaRPr lang="zh-CN" altLang="en-US" dirty="0"/>
          </a:p>
        </p:txBody>
      </p:sp>
      <p:grpSp>
        <p:nvGrpSpPr>
          <p:cNvPr id="4" name="组合 3">
            <a:extLst>
              <a:ext uri="{FF2B5EF4-FFF2-40B4-BE49-F238E27FC236}">
                <a16:creationId xmlns:a16="http://schemas.microsoft.com/office/drawing/2014/main" id="{65469023-AA89-4F7C-AA47-4D3B793F5AB7}"/>
              </a:ext>
            </a:extLst>
          </p:cNvPr>
          <p:cNvGrpSpPr/>
          <p:nvPr/>
        </p:nvGrpSpPr>
        <p:grpSpPr>
          <a:xfrm>
            <a:off x="4882925" y="3523671"/>
            <a:ext cx="1006763" cy="1006764"/>
            <a:chOff x="4882925" y="3523671"/>
            <a:chExt cx="1006763" cy="1006764"/>
          </a:xfrm>
        </p:grpSpPr>
        <p:cxnSp>
          <p:nvCxnSpPr>
            <p:cNvPr id="5" name="直接连接符 4">
              <a:extLst>
                <a:ext uri="{FF2B5EF4-FFF2-40B4-BE49-F238E27FC236}">
                  <a16:creationId xmlns:a16="http://schemas.microsoft.com/office/drawing/2014/main" id="{1AF53A2C-BC23-48B5-AD7D-0E4081B5B29D}"/>
                </a:ext>
              </a:extLst>
            </p:cNvPr>
            <p:cNvCxnSpPr/>
            <p:nvPr/>
          </p:nvCxnSpPr>
          <p:spPr>
            <a:xfrm>
              <a:off x="4882925" y="4027055"/>
              <a:ext cx="1006763" cy="0"/>
            </a:xfrm>
            <a:prstGeom prst="line">
              <a:avLst/>
            </a:prstGeom>
            <a:ln/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6" name="直接连接符 5">
              <a:extLst>
                <a:ext uri="{FF2B5EF4-FFF2-40B4-BE49-F238E27FC236}">
                  <a16:creationId xmlns:a16="http://schemas.microsoft.com/office/drawing/2014/main" id="{EA9762C7-77F7-4EEE-AE82-E5827284F4A2}"/>
                </a:ext>
              </a:extLst>
            </p:cNvPr>
            <p:cNvCxnSpPr>
              <a:cxnSpLocks/>
            </p:cNvCxnSpPr>
            <p:nvPr/>
          </p:nvCxnSpPr>
          <p:spPr>
            <a:xfrm rot="16200000">
              <a:off x="4878308" y="4027054"/>
              <a:ext cx="1006763" cy="0"/>
            </a:xfrm>
            <a:prstGeom prst="line">
              <a:avLst/>
            </a:prstGeom>
            <a:ln/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7" name="直接连接符 6">
              <a:extLst>
                <a:ext uri="{FF2B5EF4-FFF2-40B4-BE49-F238E27FC236}">
                  <a16:creationId xmlns:a16="http://schemas.microsoft.com/office/drawing/2014/main" id="{13BBCE85-EC02-462F-B4A8-84C4AE458D68}"/>
                </a:ext>
              </a:extLst>
            </p:cNvPr>
            <p:cNvCxnSpPr>
              <a:cxnSpLocks/>
            </p:cNvCxnSpPr>
            <p:nvPr/>
          </p:nvCxnSpPr>
          <p:spPr>
            <a:xfrm rot="18540000">
              <a:off x="4879786" y="4027053"/>
              <a:ext cx="1006763" cy="0"/>
            </a:xfrm>
            <a:prstGeom prst="line">
              <a:avLst/>
            </a:prstGeom>
            <a:ln/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8" name="直接连接符 7">
              <a:extLst>
                <a:ext uri="{FF2B5EF4-FFF2-40B4-BE49-F238E27FC236}">
                  <a16:creationId xmlns:a16="http://schemas.microsoft.com/office/drawing/2014/main" id="{93F44054-20B4-4E9B-83DF-471B712A985A}"/>
                </a:ext>
              </a:extLst>
            </p:cNvPr>
            <p:cNvCxnSpPr>
              <a:cxnSpLocks/>
            </p:cNvCxnSpPr>
            <p:nvPr/>
          </p:nvCxnSpPr>
          <p:spPr>
            <a:xfrm rot="24420000">
              <a:off x="4878308" y="4027053"/>
              <a:ext cx="1006763" cy="0"/>
            </a:xfrm>
            <a:prstGeom prst="line">
              <a:avLst/>
            </a:prstGeom>
            <a:ln/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1546798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3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3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6" presetClass="exit" presetSubtype="32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Effect transition="out" filter="circle(out)">
                                      <p:cBhvr>
                                        <p:cTn id="10" dur="3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03601F6-22FE-437C-8B98-2E84C2ABC1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A9CC2D86-BD04-4B12-AEDE-830050C19C3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CN" dirty="0"/>
              <a:t>1. </a:t>
            </a:r>
            <a:r>
              <a:rPr lang="zh-CN" altLang="en-US" dirty="0"/>
              <a:t>内圈的圆，更多进入效果，基本缩放</a:t>
            </a:r>
            <a:endParaRPr lang="en-US" altLang="zh-CN" dirty="0"/>
          </a:p>
          <a:p>
            <a:r>
              <a:rPr lang="en-US" altLang="zh-CN" dirty="0"/>
              <a:t>2. </a:t>
            </a:r>
            <a:r>
              <a:rPr lang="zh-CN" altLang="en-US" dirty="0"/>
              <a:t>添加动画里面，强调选择放大缩小，缩放大小调整为</a:t>
            </a:r>
            <a:r>
              <a:rPr lang="en-US" altLang="zh-CN" dirty="0"/>
              <a:t>120</a:t>
            </a:r>
          </a:p>
          <a:p>
            <a:r>
              <a:rPr lang="en-US" altLang="zh-CN" dirty="0"/>
              <a:t>3. </a:t>
            </a:r>
            <a:r>
              <a:rPr lang="zh-CN" altLang="en-US" dirty="0"/>
              <a:t>添加动画里面，退出动画淡化</a:t>
            </a:r>
            <a:endParaRPr lang="en-US" altLang="zh-CN" dirty="0"/>
          </a:p>
          <a:p>
            <a:r>
              <a:rPr lang="en-US" altLang="zh-CN" dirty="0"/>
              <a:t>4. </a:t>
            </a:r>
            <a:r>
              <a:rPr lang="zh-CN" altLang="en-US" dirty="0"/>
              <a:t>第一个持续时间</a:t>
            </a:r>
            <a:r>
              <a:rPr lang="en-US" altLang="zh-CN" dirty="0"/>
              <a:t>0.25</a:t>
            </a:r>
            <a:r>
              <a:rPr lang="zh-CN" altLang="en-US" dirty="0"/>
              <a:t>秒</a:t>
            </a:r>
            <a:endParaRPr lang="en-US" altLang="zh-CN" dirty="0"/>
          </a:p>
          <a:p>
            <a:r>
              <a:rPr lang="en-US" altLang="zh-CN" dirty="0"/>
              <a:t>5. </a:t>
            </a:r>
            <a:r>
              <a:rPr lang="zh-CN" altLang="en-US" dirty="0"/>
              <a:t>第二个持续时间</a:t>
            </a:r>
            <a:r>
              <a:rPr lang="en-US" altLang="zh-CN" dirty="0"/>
              <a:t>0.5</a:t>
            </a:r>
            <a:r>
              <a:rPr lang="zh-CN" altLang="en-US" dirty="0"/>
              <a:t>秒</a:t>
            </a:r>
            <a:r>
              <a:rPr lang="en-US" altLang="zh-CN" dirty="0"/>
              <a:t>+0.25</a:t>
            </a:r>
            <a:r>
              <a:rPr lang="zh-CN" altLang="en-US" dirty="0"/>
              <a:t>延迟</a:t>
            </a:r>
            <a:endParaRPr lang="en-US" altLang="zh-CN" dirty="0"/>
          </a:p>
          <a:p>
            <a:r>
              <a:rPr lang="en-US" altLang="zh-CN" dirty="0"/>
              <a:t>6. </a:t>
            </a:r>
            <a:r>
              <a:rPr lang="zh-CN" altLang="en-US" dirty="0"/>
              <a:t>第三个持续时间</a:t>
            </a:r>
            <a:r>
              <a:rPr lang="en-US" altLang="zh-CN" dirty="0"/>
              <a:t>0.25</a:t>
            </a:r>
            <a:r>
              <a:rPr lang="zh-CN" altLang="en-US" dirty="0"/>
              <a:t>秒</a:t>
            </a:r>
            <a:r>
              <a:rPr lang="en-US" altLang="zh-CN" dirty="0"/>
              <a:t>+0.25</a:t>
            </a:r>
            <a:r>
              <a:rPr lang="zh-CN" altLang="en-US" dirty="0"/>
              <a:t>延迟</a:t>
            </a:r>
          </a:p>
        </p:txBody>
      </p:sp>
      <p:grpSp>
        <p:nvGrpSpPr>
          <p:cNvPr id="14" name="组合 13">
            <a:extLst>
              <a:ext uri="{FF2B5EF4-FFF2-40B4-BE49-F238E27FC236}">
                <a16:creationId xmlns:a16="http://schemas.microsoft.com/office/drawing/2014/main" id="{FF3CFB22-1E8A-4977-942A-AB92F13FF3B0}"/>
              </a:ext>
            </a:extLst>
          </p:cNvPr>
          <p:cNvGrpSpPr/>
          <p:nvPr/>
        </p:nvGrpSpPr>
        <p:grpSpPr>
          <a:xfrm>
            <a:off x="4553917" y="3044490"/>
            <a:ext cx="2886942" cy="2886942"/>
            <a:chOff x="4553917" y="3044490"/>
            <a:chExt cx="2886942" cy="2886942"/>
          </a:xfrm>
        </p:grpSpPr>
        <p:cxnSp>
          <p:nvCxnSpPr>
            <p:cNvPr id="15" name="直接连接符 14">
              <a:extLst>
                <a:ext uri="{FF2B5EF4-FFF2-40B4-BE49-F238E27FC236}">
                  <a16:creationId xmlns:a16="http://schemas.microsoft.com/office/drawing/2014/main" id="{F19AFEE8-4345-452A-A8F8-B636D1585EFC}"/>
                </a:ext>
              </a:extLst>
            </p:cNvPr>
            <p:cNvCxnSpPr>
              <a:cxnSpLocks/>
            </p:cNvCxnSpPr>
            <p:nvPr/>
          </p:nvCxnSpPr>
          <p:spPr>
            <a:xfrm rot="60000">
              <a:off x="6016237" y="3044490"/>
              <a:ext cx="0" cy="727271"/>
            </a:xfrm>
            <a:prstGeom prst="line">
              <a:avLst/>
            </a:prstGeom>
            <a:ln/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16" name="直接连接符 15">
              <a:extLst>
                <a:ext uri="{FF2B5EF4-FFF2-40B4-BE49-F238E27FC236}">
                  <a16:creationId xmlns:a16="http://schemas.microsoft.com/office/drawing/2014/main" id="{E55623E9-1CA1-4B38-9588-E638D00B74EF}"/>
                </a:ext>
              </a:extLst>
            </p:cNvPr>
            <p:cNvCxnSpPr>
              <a:cxnSpLocks/>
            </p:cNvCxnSpPr>
            <p:nvPr/>
          </p:nvCxnSpPr>
          <p:spPr>
            <a:xfrm rot="2760000">
              <a:off x="6774275" y="3374094"/>
              <a:ext cx="0" cy="727271"/>
            </a:xfrm>
            <a:prstGeom prst="line">
              <a:avLst/>
            </a:prstGeom>
            <a:ln/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17" name="直接连接符 16">
              <a:extLst>
                <a:ext uri="{FF2B5EF4-FFF2-40B4-BE49-F238E27FC236}">
                  <a16:creationId xmlns:a16="http://schemas.microsoft.com/office/drawing/2014/main" id="{2ADECE04-5743-426F-A5D3-E646CB500906}"/>
                </a:ext>
              </a:extLst>
            </p:cNvPr>
            <p:cNvCxnSpPr>
              <a:cxnSpLocks/>
            </p:cNvCxnSpPr>
            <p:nvPr/>
          </p:nvCxnSpPr>
          <p:spPr>
            <a:xfrm rot="5460000">
              <a:off x="7077224" y="4143173"/>
              <a:ext cx="0" cy="727271"/>
            </a:xfrm>
            <a:prstGeom prst="line">
              <a:avLst/>
            </a:prstGeom>
            <a:ln/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18" name="直接连接符 17">
              <a:extLst>
                <a:ext uri="{FF2B5EF4-FFF2-40B4-BE49-F238E27FC236}">
                  <a16:creationId xmlns:a16="http://schemas.microsoft.com/office/drawing/2014/main" id="{AFBB0A72-9A66-419D-856F-213B7610C350}"/>
                </a:ext>
              </a:extLst>
            </p:cNvPr>
            <p:cNvCxnSpPr>
              <a:cxnSpLocks/>
            </p:cNvCxnSpPr>
            <p:nvPr/>
          </p:nvCxnSpPr>
          <p:spPr>
            <a:xfrm rot="8160000">
              <a:off x="6747619" y="4901212"/>
              <a:ext cx="0" cy="727271"/>
            </a:xfrm>
            <a:prstGeom prst="line">
              <a:avLst/>
            </a:prstGeom>
            <a:ln/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19" name="直接连接符 18">
              <a:extLst>
                <a:ext uri="{FF2B5EF4-FFF2-40B4-BE49-F238E27FC236}">
                  <a16:creationId xmlns:a16="http://schemas.microsoft.com/office/drawing/2014/main" id="{2F919A3C-75BD-4D5B-A4F4-FC23A52CCAED}"/>
                </a:ext>
              </a:extLst>
            </p:cNvPr>
            <p:cNvCxnSpPr>
              <a:cxnSpLocks/>
            </p:cNvCxnSpPr>
            <p:nvPr/>
          </p:nvCxnSpPr>
          <p:spPr>
            <a:xfrm rot="10860000">
              <a:off x="5978540" y="5204161"/>
              <a:ext cx="0" cy="727271"/>
            </a:xfrm>
            <a:prstGeom prst="line">
              <a:avLst/>
            </a:prstGeom>
            <a:ln/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20" name="直接连接符 19">
              <a:extLst>
                <a:ext uri="{FF2B5EF4-FFF2-40B4-BE49-F238E27FC236}">
                  <a16:creationId xmlns:a16="http://schemas.microsoft.com/office/drawing/2014/main" id="{DD00835C-17C3-4AD1-B702-D70B5DA37F6F}"/>
                </a:ext>
              </a:extLst>
            </p:cNvPr>
            <p:cNvCxnSpPr>
              <a:cxnSpLocks/>
            </p:cNvCxnSpPr>
            <p:nvPr/>
          </p:nvCxnSpPr>
          <p:spPr>
            <a:xfrm rot="13560000">
              <a:off x="5220501" y="4874556"/>
              <a:ext cx="0" cy="727271"/>
            </a:xfrm>
            <a:prstGeom prst="line">
              <a:avLst/>
            </a:prstGeom>
            <a:ln/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21" name="直接连接符 20">
              <a:extLst>
                <a:ext uri="{FF2B5EF4-FFF2-40B4-BE49-F238E27FC236}">
                  <a16:creationId xmlns:a16="http://schemas.microsoft.com/office/drawing/2014/main" id="{A37A32BC-3D3F-44E8-A69C-DEB99B695E11}"/>
                </a:ext>
              </a:extLst>
            </p:cNvPr>
            <p:cNvCxnSpPr>
              <a:cxnSpLocks/>
            </p:cNvCxnSpPr>
            <p:nvPr/>
          </p:nvCxnSpPr>
          <p:spPr>
            <a:xfrm rot="16260000">
              <a:off x="4917553" y="4105477"/>
              <a:ext cx="0" cy="727271"/>
            </a:xfrm>
            <a:prstGeom prst="line">
              <a:avLst/>
            </a:prstGeom>
            <a:ln/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22" name="直接连接符 21">
              <a:extLst>
                <a:ext uri="{FF2B5EF4-FFF2-40B4-BE49-F238E27FC236}">
                  <a16:creationId xmlns:a16="http://schemas.microsoft.com/office/drawing/2014/main" id="{4B92896C-C07E-46AA-9EB6-3AF0D23F370D}"/>
                </a:ext>
              </a:extLst>
            </p:cNvPr>
            <p:cNvCxnSpPr>
              <a:cxnSpLocks/>
            </p:cNvCxnSpPr>
            <p:nvPr/>
          </p:nvCxnSpPr>
          <p:spPr>
            <a:xfrm rot="18960000">
              <a:off x="5247157" y="3347438"/>
              <a:ext cx="0" cy="727271"/>
            </a:xfrm>
            <a:prstGeom prst="line">
              <a:avLst/>
            </a:prstGeom>
            <a:ln/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23" name="流程图: 接点 22">
            <a:extLst>
              <a:ext uri="{FF2B5EF4-FFF2-40B4-BE49-F238E27FC236}">
                <a16:creationId xmlns:a16="http://schemas.microsoft.com/office/drawing/2014/main" id="{2C0DE269-E692-4100-B7AA-07E13B5C1C79}"/>
              </a:ext>
            </a:extLst>
          </p:cNvPr>
          <p:cNvSpPr/>
          <p:nvPr/>
        </p:nvSpPr>
        <p:spPr>
          <a:xfrm>
            <a:off x="5261236" y="3801014"/>
            <a:ext cx="1420160" cy="1365119"/>
          </a:xfrm>
          <a:prstGeom prst="flowChartConnector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1120020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25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25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6" presetClass="emph" presetSubtype="0" fill="hold" grpId="1" nodeType="withEffect">
                                  <p:stCondLst>
                                    <p:cond delay="250"/>
                                  </p:stCondLst>
                                  <p:childTnLst>
                                    <p:animScale>
                                      <p:cBhvr>
                                        <p:cTn id="10" dur="500" fill="hold"/>
                                        <p:tgtEl>
                                          <p:spTgt spid="23"/>
                                        </p:tgtEl>
                                      </p:cBhvr>
                                      <p:by x="120000" y="120000"/>
                                    </p:animScale>
                                  </p:childTnLst>
                                </p:cTn>
                              </p:par>
                              <p:par>
                                <p:cTn id="11" presetID="10" presetClass="exit" presetSubtype="0" fill="hold" grpId="2" nodeType="withEffect">
                                  <p:stCondLst>
                                    <p:cond delay="5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2" dur="2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249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3" grpId="1" animBg="1"/>
      <p:bldP spid="23" grpId="2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06B4946-0417-4619-A42E-737B55326E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5F22D21D-AEEA-47F5-821C-8DA8F1E1B57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CN" dirty="0"/>
              <a:t>7. </a:t>
            </a:r>
            <a:r>
              <a:rPr lang="zh-CN" altLang="en-US" dirty="0"/>
              <a:t>内圈动画刷，刷给外圈</a:t>
            </a:r>
            <a:endParaRPr lang="en-US" altLang="zh-CN" dirty="0"/>
          </a:p>
          <a:p>
            <a:r>
              <a:rPr lang="en-US" altLang="zh-CN" dirty="0"/>
              <a:t>8. </a:t>
            </a:r>
            <a:r>
              <a:rPr lang="zh-CN" altLang="en-US" dirty="0"/>
              <a:t>组合三淡化修改成形状，然后时间缩短为</a:t>
            </a:r>
            <a:r>
              <a:rPr lang="en-US" altLang="zh-CN" dirty="0"/>
              <a:t>0.5</a:t>
            </a:r>
            <a:r>
              <a:rPr lang="zh-CN" altLang="en-US" dirty="0"/>
              <a:t>秒</a:t>
            </a:r>
            <a:r>
              <a:rPr lang="en-US" altLang="zh-CN" dirty="0"/>
              <a:t>+</a:t>
            </a:r>
            <a:r>
              <a:rPr lang="zh-CN" altLang="en-US" dirty="0"/>
              <a:t>延迟</a:t>
            </a:r>
            <a:r>
              <a:rPr lang="en-US" altLang="zh-CN" dirty="0"/>
              <a:t>0.25</a:t>
            </a:r>
            <a:r>
              <a:rPr lang="zh-CN" altLang="en-US" dirty="0"/>
              <a:t>秒</a:t>
            </a:r>
            <a:endParaRPr lang="en-US" altLang="zh-CN" dirty="0"/>
          </a:p>
          <a:p>
            <a:endParaRPr lang="zh-CN" altLang="en-US" dirty="0"/>
          </a:p>
        </p:txBody>
      </p:sp>
      <p:grpSp>
        <p:nvGrpSpPr>
          <p:cNvPr id="4" name="组合 3">
            <a:extLst>
              <a:ext uri="{FF2B5EF4-FFF2-40B4-BE49-F238E27FC236}">
                <a16:creationId xmlns:a16="http://schemas.microsoft.com/office/drawing/2014/main" id="{7592F383-C0A4-499F-8456-D54897372F77}"/>
              </a:ext>
            </a:extLst>
          </p:cNvPr>
          <p:cNvGrpSpPr/>
          <p:nvPr/>
        </p:nvGrpSpPr>
        <p:grpSpPr>
          <a:xfrm>
            <a:off x="4553917" y="3044490"/>
            <a:ext cx="2886942" cy="2886942"/>
            <a:chOff x="4553917" y="3044490"/>
            <a:chExt cx="2886942" cy="2886942"/>
          </a:xfrm>
        </p:grpSpPr>
        <p:cxnSp>
          <p:nvCxnSpPr>
            <p:cNvPr id="5" name="直接连接符 4">
              <a:extLst>
                <a:ext uri="{FF2B5EF4-FFF2-40B4-BE49-F238E27FC236}">
                  <a16:creationId xmlns:a16="http://schemas.microsoft.com/office/drawing/2014/main" id="{D9F689F3-2527-47D8-A75E-56571D7F98DA}"/>
                </a:ext>
              </a:extLst>
            </p:cNvPr>
            <p:cNvCxnSpPr>
              <a:cxnSpLocks/>
            </p:cNvCxnSpPr>
            <p:nvPr/>
          </p:nvCxnSpPr>
          <p:spPr>
            <a:xfrm rot="60000">
              <a:off x="6016237" y="3044490"/>
              <a:ext cx="0" cy="727271"/>
            </a:xfrm>
            <a:prstGeom prst="line">
              <a:avLst/>
            </a:prstGeom>
            <a:ln/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6" name="直接连接符 5">
              <a:extLst>
                <a:ext uri="{FF2B5EF4-FFF2-40B4-BE49-F238E27FC236}">
                  <a16:creationId xmlns:a16="http://schemas.microsoft.com/office/drawing/2014/main" id="{3B82CD23-2DA1-48D8-8226-538972A2553E}"/>
                </a:ext>
              </a:extLst>
            </p:cNvPr>
            <p:cNvCxnSpPr>
              <a:cxnSpLocks/>
            </p:cNvCxnSpPr>
            <p:nvPr/>
          </p:nvCxnSpPr>
          <p:spPr>
            <a:xfrm rot="2760000">
              <a:off x="6774275" y="3374094"/>
              <a:ext cx="0" cy="727271"/>
            </a:xfrm>
            <a:prstGeom prst="line">
              <a:avLst/>
            </a:prstGeom>
            <a:ln/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7" name="直接连接符 6">
              <a:extLst>
                <a:ext uri="{FF2B5EF4-FFF2-40B4-BE49-F238E27FC236}">
                  <a16:creationId xmlns:a16="http://schemas.microsoft.com/office/drawing/2014/main" id="{95F18CD6-0E59-409E-8A9A-DD4B3D2DE694}"/>
                </a:ext>
              </a:extLst>
            </p:cNvPr>
            <p:cNvCxnSpPr>
              <a:cxnSpLocks/>
            </p:cNvCxnSpPr>
            <p:nvPr/>
          </p:nvCxnSpPr>
          <p:spPr>
            <a:xfrm rot="5460000">
              <a:off x="7077224" y="4143173"/>
              <a:ext cx="0" cy="727271"/>
            </a:xfrm>
            <a:prstGeom prst="line">
              <a:avLst/>
            </a:prstGeom>
            <a:ln/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8" name="直接连接符 7">
              <a:extLst>
                <a:ext uri="{FF2B5EF4-FFF2-40B4-BE49-F238E27FC236}">
                  <a16:creationId xmlns:a16="http://schemas.microsoft.com/office/drawing/2014/main" id="{D6C3C0A4-3EAE-442B-8057-38E633750F27}"/>
                </a:ext>
              </a:extLst>
            </p:cNvPr>
            <p:cNvCxnSpPr>
              <a:cxnSpLocks/>
            </p:cNvCxnSpPr>
            <p:nvPr/>
          </p:nvCxnSpPr>
          <p:spPr>
            <a:xfrm rot="8160000">
              <a:off x="6747619" y="4901212"/>
              <a:ext cx="0" cy="727271"/>
            </a:xfrm>
            <a:prstGeom prst="line">
              <a:avLst/>
            </a:prstGeom>
            <a:ln/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9" name="直接连接符 8">
              <a:extLst>
                <a:ext uri="{FF2B5EF4-FFF2-40B4-BE49-F238E27FC236}">
                  <a16:creationId xmlns:a16="http://schemas.microsoft.com/office/drawing/2014/main" id="{74C2827F-A084-4941-80A6-ECBC0027EFFA}"/>
                </a:ext>
              </a:extLst>
            </p:cNvPr>
            <p:cNvCxnSpPr>
              <a:cxnSpLocks/>
            </p:cNvCxnSpPr>
            <p:nvPr/>
          </p:nvCxnSpPr>
          <p:spPr>
            <a:xfrm rot="10860000">
              <a:off x="5978540" y="5204161"/>
              <a:ext cx="0" cy="727271"/>
            </a:xfrm>
            <a:prstGeom prst="line">
              <a:avLst/>
            </a:prstGeom>
            <a:ln/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10" name="直接连接符 9">
              <a:extLst>
                <a:ext uri="{FF2B5EF4-FFF2-40B4-BE49-F238E27FC236}">
                  <a16:creationId xmlns:a16="http://schemas.microsoft.com/office/drawing/2014/main" id="{BC1BC0A8-7F24-431D-BDEC-3536EC2C6AC2}"/>
                </a:ext>
              </a:extLst>
            </p:cNvPr>
            <p:cNvCxnSpPr>
              <a:cxnSpLocks/>
            </p:cNvCxnSpPr>
            <p:nvPr/>
          </p:nvCxnSpPr>
          <p:spPr>
            <a:xfrm rot="13560000">
              <a:off x="5220501" y="4874556"/>
              <a:ext cx="0" cy="727271"/>
            </a:xfrm>
            <a:prstGeom prst="line">
              <a:avLst/>
            </a:prstGeom>
            <a:ln/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11" name="直接连接符 10">
              <a:extLst>
                <a:ext uri="{FF2B5EF4-FFF2-40B4-BE49-F238E27FC236}">
                  <a16:creationId xmlns:a16="http://schemas.microsoft.com/office/drawing/2014/main" id="{0C1EB937-9D53-4D67-AA15-BFE9E232A0DC}"/>
                </a:ext>
              </a:extLst>
            </p:cNvPr>
            <p:cNvCxnSpPr>
              <a:cxnSpLocks/>
            </p:cNvCxnSpPr>
            <p:nvPr/>
          </p:nvCxnSpPr>
          <p:spPr>
            <a:xfrm rot="16260000">
              <a:off x="4917553" y="4105477"/>
              <a:ext cx="0" cy="727271"/>
            </a:xfrm>
            <a:prstGeom prst="line">
              <a:avLst/>
            </a:prstGeom>
            <a:ln/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12" name="直接连接符 11">
              <a:extLst>
                <a:ext uri="{FF2B5EF4-FFF2-40B4-BE49-F238E27FC236}">
                  <a16:creationId xmlns:a16="http://schemas.microsoft.com/office/drawing/2014/main" id="{76809D2A-E103-442B-AC58-29BD62E5C54C}"/>
                </a:ext>
              </a:extLst>
            </p:cNvPr>
            <p:cNvCxnSpPr>
              <a:cxnSpLocks/>
            </p:cNvCxnSpPr>
            <p:nvPr/>
          </p:nvCxnSpPr>
          <p:spPr>
            <a:xfrm rot="18960000">
              <a:off x="5247157" y="3347438"/>
              <a:ext cx="0" cy="727271"/>
            </a:xfrm>
            <a:prstGeom prst="line">
              <a:avLst/>
            </a:prstGeom>
            <a:ln/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13" name="流程图: 接点 12">
            <a:extLst>
              <a:ext uri="{FF2B5EF4-FFF2-40B4-BE49-F238E27FC236}">
                <a16:creationId xmlns:a16="http://schemas.microsoft.com/office/drawing/2014/main" id="{A3EF9A8F-DDF5-4741-8EB2-CAFE9C4380A8}"/>
              </a:ext>
            </a:extLst>
          </p:cNvPr>
          <p:cNvSpPr/>
          <p:nvPr/>
        </p:nvSpPr>
        <p:spPr>
          <a:xfrm>
            <a:off x="5261236" y="3801014"/>
            <a:ext cx="1420160" cy="1365119"/>
          </a:xfrm>
          <a:prstGeom prst="flowChartConnector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7064274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2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2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6" presetClass="emph" presetSubtype="0" fill="hold" grpId="1" nodeType="withEffect">
                                  <p:stCondLst>
                                    <p:cond delay="250"/>
                                  </p:stCondLst>
                                  <p:childTnLst>
                                    <p:animScale>
                                      <p:cBhvr>
                                        <p:cTn id="10" dur="500" fill="hold"/>
                                        <p:tgtEl>
                                          <p:spTgt spid="13"/>
                                        </p:tgtEl>
                                      </p:cBhvr>
                                      <p:by x="120000" y="120000"/>
                                    </p:animScale>
                                  </p:childTnLst>
                                </p:cTn>
                              </p:par>
                              <p:par>
                                <p:cTn id="11" presetID="10" presetClass="exit" presetSubtype="0" fill="hold" grpId="2" nodeType="withEffect">
                                  <p:stCondLst>
                                    <p:cond delay="5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2" dur="2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24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2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6" dur="2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2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" presetID="6" presetClass="emph" presetSubtype="0" fill="hold" nodeType="withEffect">
                                  <p:stCondLst>
                                    <p:cond delay="250"/>
                                  </p:stCondLst>
                                  <p:childTnLst>
                                    <p:animScale>
                                      <p:cBhvr>
                                        <p:cTn id="19" dur="500" fill="hold"/>
                                        <p:tgtEl>
                                          <p:spTgt spid="4"/>
                                        </p:tgtEl>
                                      </p:cBhvr>
                                      <p:by x="120000" y="120000"/>
                                    </p:animScale>
                                  </p:childTnLst>
                                </p:cTn>
                              </p:par>
                              <p:par>
                                <p:cTn id="20" presetID="6" presetClass="exit" presetSubtype="32" fill="hold" nodeType="withEffect">
                                  <p:stCondLst>
                                    <p:cond delay="250"/>
                                  </p:stCondLst>
                                  <p:childTnLst>
                                    <p:animEffect transition="out" filter="circle(out)">
                                      <p:cBhvr>
                                        <p:cTn id="21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3" grpId="1" animBg="1"/>
      <p:bldP spid="13" grpId="2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BBD2E4C-11EB-4F8B-AB01-E201CF9451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4. </a:t>
            </a:r>
            <a:r>
              <a:rPr lang="zh-CN" altLang="en-US" dirty="0"/>
              <a:t>做一个</a:t>
            </a:r>
            <a:r>
              <a:rPr lang="en-US" altLang="zh-CN" dirty="0"/>
              <a:t>MG</a:t>
            </a:r>
            <a:r>
              <a:rPr lang="zh-CN" altLang="en-US" dirty="0"/>
              <a:t>动画片头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2D3849D7-F7E9-4CA5-A75A-0BEEDDE6173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30729709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E1A4AAC-A44C-430A-9065-01280C7238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19B7FD38-ABFA-4845-B48F-68C5AC87195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72181697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2447</TotalTime>
  <Words>682</Words>
  <Application>Microsoft Office PowerPoint</Application>
  <PresentationFormat>宽屏</PresentationFormat>
  <Paragraphs>55</Paragraphs>
  <Slides>21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21</vt:i4>
      </vt:variant>
    </vt:vector>
  </HeadingPairs>
  <TitlesOfParts>
    <vt:vector size="25" baseType="lpstr">
      <vt:lpstr>等线</vt:lpstr>
      <vt:lpstr>等线 Light</vt:lpstr>
      <vt:lpstr>Arial</vt:lpstr>
      <vt:lpstr>Office 主题​​</vt:lpstr>
      <vt:lpstr>华丽MG效果</vt:lpstr>
      <vt:lpstr>1. 常用的基础动画</vt:lpstr>
      <vt:lpstr>Sample 1:   1. 目标：对象从左到右移动 2. 对象无法移动存在问题，解决方案：A) 选中对象在动作路径中用直线，B) 效果选项中选择右，如下：  </vt:lpstr>
      <vt:lpstr>PowerPoint 演示文稿</vt:lpstr>
      <vt:lpstr>Sample 1 (Cont’d):   1. 目标：对象从左到右移动 2. 鼠标移动对象时候，路径会跟着移动存在问题，解决方案：A) 选中对象在效果选项中选择锁定，路径就不会跟着移动，B) 选中对象在效果选项中选择反转路径方向，路径起点变成终点，路径终点变成起点，C) 效果选项右下角箭头选择自动翻转，动画会原路返回，时间自然翻倍，如下：  </vt:lpstr>
      <vt:lpstr>PowerPoint 演示文稿</vt:lpstr>
      <vt:lpstr>Sample 2:   1. 目标：陀螺旋 2. 对象无法旋转强调存在问题，解决方案：A) 选中对象在强调中选用陀螺旋，B) 效果选项右下角箭头输入旋转角度60度，且自动翻转，如下：  </vt:lpstr>
      <vt:lpstr>PowerPoint 演示文稿</vt:lpstr>
      <vt:lpstr>Sample 3:   1. 目标：放大缩小 2. 对象无法放大缩小存在问题，解决方案：A) 选中对象在强调中选用放大缩小，B) 效果选项右下角箭头输入放大缩小尺寸200，且自动翻转，如下：  </vt:lpstr>
      <vt:lpstr>PowerPoint 演示文稿</vt:lpstr>
      <vt:lpstr> 2. 平滑效果的设置 </vt:lpstr>
      <vt:lpstr>Sample 4:   1. 目标：球体坠落 2. 球体坠落无弹跳存在问题，解决方案：A) 球体从视界外飞入，选择自顶部，平滑开始，B) 碰到地面后会反弹，添加动画，选择路径动画，所以添加直线路径，C) 第二个动画延迟0.5秒，持续时间0.5秒，D) 第二个动画平滑结束，如下：  </vt:lpstr>
      <vt:lpstr>PowerPoint 演示文稿</vt:lpstr>
      <vt:lpstr>  3. 制作MG修饰元素  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4. 做一个MG动画片头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Canhui Wang</dc:creator>
  <cp:lastModifiedBy>Canhui Wang</cp:lastModifiedBy>
  <cp:revision>52</cp:revision>
  <dcterms:created xsi:type="dcterms:W3CDTF">2026-05-29T00:35:31Z</dcterms:created>
  <dcterms:modified xsi:type="dcterms:W3CDTF">2026-05-31T02:48:35Z</dcterms:modified>
</cp:coreProperties>
</file>