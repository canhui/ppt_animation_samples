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9" r:id="rId4"/>
    <p:sldId id="258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71" r:id="rId13"/>
    <p:sldId id="269" r:id="rId14"/>
    <p:sldId id="270" r:id="rId15"/>
    <p:sldId id="273" r:id="rId16"/>
    <p:sldId id="27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5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93DFA3-BBDD-4189-8256-30F531019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FD678B-62D2-4286-B7FA-F4196EA74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304E5A-2344-47C2-A453-C6D2392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70C4B7-5384-4F7C-8500-4C04038A1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23F91F-6DE0-4EED-8C26-633027A5A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19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8875D-39C3-4165-AF44-961C6FAAE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E3312A-B96B-4CBB-8A7E-A0F6FA657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1D2C48-AEEB-490A-A763-A8F8EB027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8029F6-47B9-48BA-A6F0-C0E2FBC7C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F23BED-0050-4302-9CD1-B11CF5666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685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C7AF48-06AB-46EA-B2BE-33F13005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558F2A-400C-40AC-A71A-EEFDCA732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A554A5-9556-4573-9520-8170393CE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18BB2A-FFCC-4AE4-A53D-74E16F471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27639-CF36-48B3-9BD5-02EE36DAE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131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1B7D09-A428-473D-9681-8D70FE3F7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66C58A-1DC6-49D6-A3FE-0AB74CB8F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6C9F3B-41E8-4D4E-99CF-A758C3EDE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75B9D3-41E0-4DF6-9181-9331348B2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A8D371-4F16-4876-A878-C8B10DE55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79226F-0179-4FCC-849F-3B46E010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437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5F70A-A61A-4C1E-813A-9BE0DA416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7105B8-3515-447C-8242-E65D37662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8D46EC-3D7B-4047-9458-493BD7FCA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DCB814-9B42-4DF9-95DC-3E8662C6C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7968D4-9C2B-4E29-A85E-D9E49B1F23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D9F54DF-5912-4B8C-9DE3-FB7E22B08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33CDB96-3F10-4B01-9BFC-1732B0D8E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768FB56-E05D-4E30-9CBA-FEE59A19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072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2E468-C083-45D2-AE22-FE54E1017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12E6A1-8AC9-46E9-A7BC-2D2447C22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22EEA4-C9B3-443E-9ED5-5604DBD9D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467A86-5812-4B56-8B1E-B71420092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938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C7E40C-A7C0-48DD-9FAC-DEE7102CF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B5E6B2-E9B9-4DAE-8E31-CF5E6A69D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F07FD1-84D4-454C-8EB5-3E217F9A3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216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70992A-3E59-4898-A3FC-42216AB06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B9FC22-E2B9-4F1F-9E4E-95CD1734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9ACD0C-6392-4178-BE96-DB5540F1F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97B7B4-EE74-491A-A0F0-E286C52A6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BA0500-0003-4977-84E9-A62C3EF3B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A5B315-D0A4-40A4-ACB0-63769F8C8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810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5CDA62-004F-417C-8F77-A9962E334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E9E2263-75F2-46AD-B313-E046DD9CA7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5E6C5A-DC7A-4CFB-AC41-D4E26BC13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B9CFD4-3CCE-494E-B143-FA11B8ABD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77FA0E-C471-4C87-8D19-6C5D6D463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718433-E461-4164-BA5A-CECED344E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802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89EAE-918E-49DD-A0D8-116D99C28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C9FEF5-CCBF-48A9-9D79-CEAE87BC8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263059-3C99-44D5-834B-AE5C5D0C1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8B5C9F-AACA-4121-ADB2-6768E80E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50DF41-0F37-48B6-823B-95A10E85F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930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33B976-D6DC-4764-8EA5-C1955ED58B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3BF09B-6FE5-4130-A7A1-5AF592596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1C6D2A-70EC-4055-86D4-9A648CB3D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4A8373-CB81-49CF-B823-EF045E475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9CD6DB-7686-4460-9B2C-324383E0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722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AC2033-8256-49AF-AB04-6013D9879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409BA6-8A03-42F3-B633-96D984844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203DD2-AE08-4A9C-A5C1-35BDF2F56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1B5628-18D7-4438-BD07-CC6BC5CDF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E1DA91-DC61-4444-82EA-9261DF4449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434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6F3CC-E0A3-443F-8537-C870D90EA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动画种类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CDF52E-FF6F-4CC3-91D4-1259DF138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进入动画：开始不在，后来出现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强调动画：一直都在，会有强调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退出动画：开始在的，后来消失</a:t>
            </a:r>
            <a:endParaRPr lang="en-US" altLang="zh-CN" dirty="0"/>
          </a:p>
          <a:p>
            <a:r>
              <a:rPr lang="en-US" altLang="zh-CN" dirty="0"/>
              <a:t>4. </a:t>
            </a:r>
            <a:r>
              <a:rPr lang="zh-CN" altLang="en-US" dirty="0"/>
              <a:t>路径动画：已知都在，会有移动</a:t>
            </a:r>
          </a:p>
        </p:txBody>
      </p:sp>
    </p:spTree>
    <p:extLst>
      <p:ext uri="{BB962C8B-B14F-4D97-AF65-F5344CB8AC3E}">
        <p14:creationId xmlns:p14="http://schemas.microsoft.com/office/powerpoint/2010/main" val="3008607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BD2E4C-11EB-4F8B-AB01-E201CF945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3849D7-F7E9-4CA5-A75A-0BEEDDE61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: 圆顶角 3">
            <a:extLst>
              <a:ext uri="{FF2B5EF4-FFF2-40B4-BE49-F238E27FC236}">
                <a16:creationId xmlns:a16="http://schemas.microsoft.com/office/drawing/2014/main" id="{55AB0DA0-913F-47F6-92F6-615BDF297D42}"/>
              </a:ext>
            </a:extLst>
          </p:cNvPr>
          <p:cNvSpPr/>
          <p:nvPr/>
        </p:nvSpPr>
        <p:spPr>
          <a:xfrm>
            <a:off x="1985818" y="2992577"/>
            <a:ext cx="1413164" cy="1071419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飞入（开始不在后来在）</a:t>
            </a:r>
          </a:p>
        </p:txBody>
      </p:sp>
      <p:sp>
        <p:nvSpPr>
          <p:cNvPr id="5" name="矩形: 对角圆角 4">
            <a:extLst>
              <a:ext uri="{FF2B5EF4-FFF2-40B4-BE49-F238E27FC236}">
                <a16:creationId xmlns:a16="http://schemas.microsoft.com/office/drawing/2014/main" id="{B046F394-24B6-4349-A59B-41C123A9FC9C}"/>
              </a:ext>
            </a:extLst>
          </p:cNvPr>
          <p:cNvSpPr/>
          <p:nvPr/>
        </p:nvSpPr>
        <p:spPr>
          <a:xfrm>
            <a:off x="3759201" y="3057232"/>
            <a:ext cx="1884218" cy="100676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强调</a:t>
            </a:r>
            <a:endParaRPr lang="en-US" altLang="zh-CN" dirty="0"/>
          </a:p>
          <a:p>
            <a:pPr algn="ctr"/>
            <a:r>
              <a:rPr lang="zh-CN" altLang="en-US" dirty="0"/>
              <a:t>（从头到尾都在工画里面）</a:t>
            </a:r>
          </a:p>
        </p:txBody>
      </p:sp>
      <p:sp>
        <p:nvSpPr>
          <p:cNvPr id="6" name="矩形: 对角圆角 5">
            <a:extLst>
              <a:ext uri="{FF2B5EF4-FFF2-40B4-BE49-F238E27FC236}">
                <a16:creationId xmlns:a16="http://schemas.microsoft.com/office/drawing/2014/main" id="{ADF59E04-9C13-488D-9B3D-033FDB770231}"/>
              </a:ext>
            </a:extLst>
          </p:cNvPr>
          <p:cNvSpPr/>
          <p:nvPr/>
        </p:nvSpPr>
        <p:spPr>
          <a:xfrm>
            <a:off x="5990936" y="3024904"/>
            <a:ext cx="1884218" cy="100676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退出（开始在后来不在）</a:t>
            </a:r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id="{7A56EA5D-FA8A-498E-A856-B003B58CB618}"/>
              </a:ext>
            </a:extLst>
          </p:cNvPr>
          <p:cNvSpPr/>
          <p:nvPr/>
        </p:nvSpPr>
        <p:spPr>
          <a:xfrm>
            <a:off x="8235373" y="3024904"/>
            <a:ext cx="1884218" cy="100676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路径（从头到尾都在，中间移动）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5805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1.85185E-6 L 0.125 -1.85185E-6 C 0.18099 -1.85185E-6 0.25 0.06898 0.25 0.125 L 0.25 0.25 " pathEditMode="relative" rAng="0" ptsTypes="AAAA">
                                      <p:cBhvr>
                                        <p:cTn id="2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1CC50F-B456-4D43-9188-6AC22D60E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200" b="1" u="sng" dirty="0"/>
              <a:t>Sample 1</a:t>
            </a:r>
            <a:r>
              <a:rPr lang="en-US" altLang="zh-CN" sz="2200" b="1" dirty="0"/>
              <a:t>:</a:t>
            </a:r>
            <a:r>
              <a:rPr lang="en-US" altLang="zh-CN" sz="2200" dirty="0"/>
              <a:t> 3</a:t>
            </a:r>
            <a:r>
              <a:rPr lang="zh-CN" altLang="en-US" sz="2200" dirty="0"/>
              <a:t>个方框飞入：全选方框，点击动画选择飞入，点击预览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B90966-3664-4910-B9F7-11F31833B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9BDAC1-F752-4A52-9C2D-77BEA48D6147}"/>
              </a:ext>
            </a:extLst>
          </p:cNvPr>
          <p:cNvSpPr/>
          <p:nvPr/>
        </p:nvSpPr>
        <p:spPr>
          <a:xfrm>
            <a:off x="5246914" y="2155371"/>
            <a:ext cx="1643743" cy="794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方块</a:t>
            </a:r>
            <a:r>
              <a:rPr lang="en-US" altLang="zh-CN" dirty="0"/>
              <a:t>1. </a:t>
            </a:r>
            <a:r>
              <a:rPr lang="zh-CN" altLang="en-US" dirty="0"/>
              <a:t>飞入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046A92-F706-4AD8-9C34-F3A708742DFA}"/>
              </a:ext>
            </a:extLst>
          </p:cNvPr>
          <p:cNvSpPr/>
          <p:nvPr/>
        </p:nvSpPr>
        <p:spPr>
          <a:xfrm>
            <a:off x="5246913" y="3084966"/>
            <a:ext cx="1643743" cy="794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方块</a:t>
            </a:r>
            <a:r>
              <a:rPr lang="en-US" altLang="zh-CN" dirty="0"/>
              <a:t>2. </a:t>
            </a:r>
            <a:r>
              <a:rPr lang="zh-CN" altLang="en-US" dirty="0"/>
              <a:t>飞入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5823BC-5F05-4C86-9F52-FACC831FBD52}"/>
              </a:ext>
            </a:extLst>
          </p:cNvPr>
          <p:cNvSpPr/>
          <p:nvPr/>
        </p:nvSpPr>
        <p:spPr>
          <a:xfrm>
            <a:off x="5246912" y="4014561"/>
            <a:ext cx="1643743" cy="794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方块</a:t>
            </a:r>
            <a:r>
              <a:rPr lang="en-US" altLang="zh-CN" dirty="0"/>
              <a:t>3. </a:t>
            </a:r>
            <a:r>
              <a:rPr lang="zh-CN" altLang="en-US" dirty="0"/>
              <a:t>飞入</a:t>
            </a:r>
          </a:p>
        </p:txBody>
      </p:sp>
    </p:spTree>
    <p:extLst>
      <p:ext uri="{BB962C8B-B14F-4D97-AF65-F5344CB8AC3E}">
        <p14:creationId xmlns:p14="http://schemas.microsoft.com/office/powerpoint/2010/main" val="776777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607C54-0156-4A4F-B568-529DFC5EB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A9DF36-8FB1-4D58-BA87-59C467CCF162}"/>
              </a:ext>
            </a:extLst>
          </p:cNvPr>
          <p:cNvSpPr/>
          <p:nvPr/>
        </p:nvSpPr>
        <p:spPr>
          <a:xfrm>
            <a:off x="5246914" y="2155371"/>
            <a:ext cx="1643743" cy="794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方块</a:t>
            </a:r>
            <a:r>
              <a:rPr lang="en-US" altLang="zh-CN" dirty="0"/>
              <a:t>1. </a:t>
            </a:r>
            <a:r>
              <a:rPr lang="zh-CN" altLang="en-US" dirty="0"/>
              <a:t>飞入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3A999B-AF34-423B-99DB-D451EB0A2565}"/>
              </a:ext>
            </a:extLst>
          </p:cNvPr>
          <p:cNvSpPr/>
          <p:nvPr/>
        </p:nvSpPr>
        <p:spPr>
          <a:xfrm>
            <a:off x="5246913" y="3084966"/>
            <a:ext cx="1643743" cy="794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方块</a:t>
            </a:r>
            <a:r>
              <a:rPr lang="en-US" altLang="zh-CN" dirty="0"/>
              <a:t>2. </a:t>
            </a:r>
            <a:r>
              <a:rPr lang="zh-CN" altLang="en-US" dirty="0"/>
              <a:t>飞入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17B333-8D03-413C-8A05-8D80437CBD54}"/>
              </a:ext>
            </a:extLst>
          </p:cNvPr>
          <p:cNvSpPr/>
          <p:nvPr/>
        </p:nvSpPr>
        <p:spPr>
          <a:xfrm>
            <a:off x="5246912" y="4014561"/>
            <a:ext cx="1643743" cy="794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方块</a:t>
            </a:r>
            <a:r>
              <a:rPr lang="en-US" altLang="zh-CN" dirty="0"/>
              <a:t>3. </a:t>
            </a:r>
            <a:r>
              <a:rPr lang="zh-CN" altLang="en-US" dirty="0"/>
              <a:t>飞入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26E2AC48-A593-46C6-AF61-8997E0FA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200" b="1" u="sng" dirty="0"/>
              <a:t>Sample 2</a:t>
            </a:r>
            <a:r>
              <a:rPr lang="en-US" altLang="zh-CN" sz="2200" b="1" dirty="0"/>
              <a:t>:</a:t>
            </a:r>
            <a:r>
              <a:rPr lang="en-US" altLang="zh-CN" sz="2200" dirty="0"/>
              <a:t> 3</a:t>
            </a:r>
            <a:r>
              <a:rPr lang="zh-CN" altLang="en-US" sz="2200" dirty="0"/>
              <a:t>个方框飞入：全选方框，点击动画选择飞入，点击效果选项选择自左侧</a:t>
            </a:r>
          </a:p>
        </p:txBody>
      </p:sp>
    </p:spTree>
    <p:extLst>
      <p:ext uri="{BB962C8B-B14F-4D97-AF65-F5344CB8AC3E}">
        <p14:creationId xmlns:p14="http://schemas.microsoft.com/office/powerpoint/2010/main" val="265156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607C54-0156-4A4F-B568-529DFC5EB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A9DF36-8FB1-4D58-BA87-59C467CCF162}"/>
              </a:ext>
            </a:extLst>
          </p:cNvPr>
          <p:cNvSpPr/>
          <p:nvPr/>
        </p:nvSpPr>
        <p:spPr>
          <a:xfrm>
            <a:off x="5246914" y="2155371"/>
            <a:ext cx="1643743" cy="794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方块</a:t>
            </a:r>
            <a:r>
              <a:rPr lang="en-US" altLang="zh-CN" dirty="0"/>
              <a:t>1. </a:t>
            </a:r>
            <a:r>
              <a:rPr lang="zh-CN" altLang="en-US" dirty="0"/>
              <a:t>飞入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3A999B-AF34-423B-99DB-D451EB0A2565}"/>
              </a:ext>
            </a:extLst>
          </p:cNvPr>
          <p:cNvSpPr/>
          <p:nvPr/>
        </p:nvSpPr>
        <p:spPr>
          <a:xfrm>
            <a:off x="5246913" y="3084966"/>
            <a:ext cx="1643743" cy="794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方块</a:t>
            </a:r>
            <a:r>
              <a:rPr lang="en-US" altLang="zh-CN" dirty="0"/>
              <a:t>2. </a:t>
            </a:r>
            <a:r>
              <a:rPr lang="zh-CN" altLang="en-US" dirty="0"/>
              <a:t>飞入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17B333-8D03-413C-8A05-8D80437CBD54}"/>
              </a:ext>
            </a:extLst>
          </p:cNvPr>
          <p:cNvSpPr/>
          <p:nvPr/>
        </p:nvSpPr>
        <p:spPr>
          <a:xfrm>
            <a:off x="5246912" y="4014561"/>
            <a:ext cx="1643743" cy="794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方块</a:t>
            </a:r>
            <a:r>
              <a:rPr lang="en-US" altLang="zh-CN" dirty="0"/>
              <a:t>3. </a:t>
            </a:r>
            <a:r>
              <a:rPr lang="zh-CN" altLang="en-US" dirty="0"/>
              <a:t>飞入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26E2AC48-A593-46C6-AF61-8997E0FA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200" b="1" u="sng" dirty="0"/>
              <a:t>Sample 3</a:t>
            </a:r>
            <a:r>
              <a:rPr lang="en-US" altLang="zh-CN" sz="2200" b="1" dirty="0"/>
              <a:t>:</a:t>
            </a:r>
            <a:r>
              <a:rPr lang="en-US" altLang="zh-CN" sz="2200" dirty="0"/>
              <a:t> 3</a:t>
            </a:r>
            <a:r>
              <a:rPr lang="zh-CN" altLang="en-US" sz="2200" dirty="0"/>
              <a:t>个方框飞入：全选方框，点击动画选择飞入，点击效果选项选择自左侧，点击动画窗格，方框</a:t>
            </a:r>
            <a:r>
              <a:rPr lang="en-US" altLang="zh-CN" sz="2200" dirty="0"/>
              <a:t>2</a:t>
            </a:r>
            <a:r>
              <a:rPr lang="zh-CN" altLang="en-US" sz="2200" dirty="0"/>
              <a:t>延迟</a:t>
            </a:r>
            <a:r>
              <a:rPr lang="en-US" altLang="zh-CN" sz="2200" dirty="0"/>
              <a:t>0.25</a:t>
            </a:r>
            <a:r>
              <a:rPr lang="zh-CN" altLang="en-US" sz="2200" dirty="0"/>
              <a:t>秒，方框</a:t>
            </a:r>
            <a:r>
              <a:rPr lang="en-US" altLang="zh-CN" sz="2200" dirty="0"/>
              <a:t>3</a:t>
            </a:r>
            <a:r>
              <a:rPr lang="zh-CN" altLang="en-US" sz="2200" dirty="0"/>
              <a:t>延迟</a:t>
            </a:r>
            <a:r>
              <a:rPr lang="en-US" altLang="zh-CN" sz="2200" dirty="0"/>
              <a:t>0.5</a:t>
            </a:r>
            <a:r>
              <a:rPr lang="zh-CN" altLang="en-US" sz="2200" dirty="0"/>
              <a:t>秒</a:t>
            </a:r>
          </a:p>
        </p:txBody>
      </p:sp>
    </p:spTree>
    <p:extLst>
      <p:ext uri="{BB962C8B-B14F-4D97-AF65-F5344CB8AC3E}">
        <p14:creationId xmlns:p14="http://schemas.microsoft.com/office/powerpoint/2010/main" val="293823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26E2AC48-A593-46C6-AF61-8997E0FA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91093"/>
          </a:xfrm>
        </p:spPr>
        <p:txBody>
          <a:bodyPr>
            <a:normAutofit/>
          </a:bodyPr>
          <a:lstStyle/>
          <a:p>
            <a:r>
              <a:rPr lang="en-US" altLang="zh-CN" sz="2200" b="1" u="sng" dirty="0"/>
              <a:t>Sample 4</a:t>
            </a:r>
            <a:r>
              <a:rPr lang="en-US" altLang="zh-CN" sz="2200" b="1" dirty="0"/>
              <a:t>:</a:t>
            </a:r>
            <a:r>
              <a:rPr lang="en-US" altLang="zh-CN" sz="2200" dirty="0"/>
              <a:t> </a:t>
            </a:r>
            <a:br>
              <a:rPr lang="en-US" altLang="zh-CN" sz="2200" dirty="0"/>
            </a:br>
            <a:br>
              <a:rPr lang="en-US" altLang="zh-CN" sz="2200" dirty="0"/>
            </a:br>
            <a:r>
              <a:rPr lang="en-US" altLang="zh-CN" sz="2200" dirty="0"/>
              <a:t>1. </a:t>
            </a:r>
            <a:r>
              <a:rPr lang="zh-CN" altLang="en-US" sz="2200" b="1" dirty="0"/>
              <a:t>目标：</a:t>
            </a:r>
            <a:r>
              <a:rPr lang="zh-CN" altLang="en-US" sz="2200" dirty="0"/>
              <a:t>选中所有星星，选择翻转式由远及近进入，如下：</a:t>
            </a:r>
            <a:br>
              <a:rPr lang="en-US" altLang="zh-CN" sz="2200" dirty="0"/>
            </a:br>
            <a:br>
              <a:rPr lang="en-US" altLang="zh-CN" sz="2200" dirty="0"/>
            </a:b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687217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CD86E-C818-4A0A-AFFC-712C60E4E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9D6641A-E17F-400D-8B5E-63014B7A6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A03731E-CCD3-44F7-9CBF-5075E2F68C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3314" y="2830371"/>
            <a:ext cx="4152323" cy="4152323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7F77AC19-EBE4-470C-B077-62804275F8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1911927"/>
            <a:ext cx="1015422" cy="1015422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9647A57A-4209-49C2-BCE4-9BA26C7011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765" y="3291034"/>
            <a:ext cx="639618" cy="639618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5BC81229-2A3F-48AA-940A-604C12427E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09438" y="2510562"/>
            <a:ext cx="639618" cy="639618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37B32407-6102-4601-BFC2-2607B69003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552382" y="2927349"/>
            <a:ext cx="639618" cy="639618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FCD06D6F-45CC-4BB4-B6F6-8375499D55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93028" y="2065411"/>
            <a:ext cx="195118" cy="195118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D1EA145A-6A91-4942-97EF-2E33D02454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12628" y="2162970"/>
            <a:ext cx="195118" cy="195118"/>
          </a:xfrm>
          <a:prstGeom prst="rect">
            <a:avLst/>
          </a:prstGeom>
        </p:spPr>
      </p:pic>
      <p:pic>
        <p:nvPicPr>
          <p:cNvPr id="12" name="图形 11">
            <a:extLst>
              <a:ext uri="{FF2B5EF4-FFF2-40B4-BE49-F238E27FC236}">
                <a16:creationId xmlns:a16="http://schemas.microsoft.com/office/drawing/2014/main" id="{1114A46C-3004-4909-8D0F-75CFF61CCA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7049" y="2927349"/>
            <a:ext cx="195118" cy="195118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7AEE3D8D-5771-4333-9CFE-194A381A7D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55283" y="2954769"/>
            <a:ext cx="195118" cy="195118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3F9F8CFD-1AFE-4DBD-8D71-36C777780F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49973" y="1920874"/>
            <a:ext cx="195118" cy="19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56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26E2AC48-A593-46C6-AF61-8997E0FA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91093"/>
          </a:xfrm>
        </p:spPr>
        <p:txBody>
          <a:bodyPr>
            <a:normAutofit/>
          </a:bodyPr>
          <a:lstStyle/>
          <a:p>
            <a:r>
              <a:rPr lang="en-US" altLang="zh-CN" sz="2200" b="1" u="sng" dirty="0"/>
              <a:t>Sample 4  (Cont’d)</a:t>
            </a:r>
            <a:r>
              <a:rPr lang="en-US" altLang="zh-CN" sz="2200" b="1" dirty="0"/>
              <a:t>: </a:t>
            </a:r>
            <a:br>
              <a:rPr lang="en-US" altLang="zh-CN" sz="2200" dirty="0"/>
            </a:br>
            <a:br>
              <a:rPr lang="en-US" altLang="zh-CN" sz="2200" dirty="0"/>
            </a:br>
            <a:r>
              <a:rPr lang="en-US" altLang="zh-CN" sz="2200" dirty="0"/>
              <a:t>1. </a:t>
            </a:r>
            <a:r>
              <a:rPr lang="zh-CN" altLang="en-US" sz="2200" b="1" dirty="0"/>
              <a:t>目标：</a:t>
            </a:r>
            <a:r>
              <a:rPr lang="zh-CN" altLang="en-US" sz="2200" dirty="0"/>
              <a:t>选中所有星星，选择翻转式由远及近进入</a:t>
            </a:r>
            <a:br>
              <a:rPr lang="en-US" altLang="zh-CN" sz="2200" dirty="0"/>
            </a:br>
            <a:r>
              <a:rPr lang="en-US" altLang="zh-CN" sz="2200" dirty="0"/>
              <a:t>2. </a:t>
            </a:r>
            <a:r>
              <a:rPr lang="zh-CN" altLang="en-US" sz="2200" dirty="0"/>
              <a:t>所有星星同一时间闪烁存在问题，</a:t>
            </a:r>
            <a:r>
              <a:rPr lang="zh-CN" altLang="en-US" sz="2200" b="1" dirty="0"/>
              <a:t>解决方案：</a:t>
            </a:r>
            <a:r>
              <a:rPr lang="zh-CN" altLang="en-US" sz="2200" dirty="0"/>
              <a:t>点击动画窗格为每一个星星增加延迟，如下：</a:t>
            </a:r>
            <a:br>
              <a:rPr lang="en-US" altLang="zh-CN" sz="2200" dirty="0"/>
            </a:b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714250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CD86E-C818-4A0A-AFFC-712C60E4E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9D6641A-E17F-400D-8B5E-63014B7A6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A03731E-CCD3-44F7-9CBF-5075E2F68C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3314" y="2830371"/>
            <a:ext cx="4152323" cy="4152323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7F77AC19-EBE4-470C-B077-62804275F8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1911927"/>
            <a:ext cx="1015422" cy="1015422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9647A57A-4209-49C2-BCE4-9BA26C7011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765" y="3291034"/>
            <a:ext cx="639618" cy="639618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5BC81229-2A3F-48AA-940A-604C12427E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09438" y="2510562"/>
            <a:ext cx="639618" cy="639618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37B32407-6102-4601-BFC2-2607B69003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552382" y="2927349"/>
            <a:ext cx="639618" cy="639618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FCD06D6F-45CC-4BB4-B6F6-8375499D55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93028" y="2065411"/>
            <a:ext cx="195118" cy="195118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D1EA145A-6A91-4942-97EF-2E33D02454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12628" y="2162970"/>
            <a:ext cx="195118" cy="195118"/>
          </a:xfrm>
          <a:prstGeom prst="rect">
            <a:avLst/>
          </a:prstGeom>
        </p:spPr>
      </p:pic>
      <p:pic>
        <p:nvPicPr>
          <p:cNvPr id="12" name="图形 11">
            <a:extLst>
              <a:ext uri="{FF2B5EF4-FFF2-40B4-BE49-F238E27FC236}">
                <a16:creationId xmlns:a16="http://schemas.microsoft.com/office/drawing/2014/main" id="{1114A46C-3004-4909-8D0F-75CFF61CCA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7049" y="2927349"/>
            <a:ext cx="195118" cy="195118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7AEE3D8D-5771-4333-9CFE-194A381A7D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55283" y="2954769"/>
            <a:ext cx="195118" cy="195118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3F9F8CFD-1AFE-4DBD-8D71-36C777780F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49973" y="1920874"/>
            <a:ext cx="195118" cy="19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1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6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26E2AC48-A593-46C6-AF61-8997E0FA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91093"/>
          </a:xfrm>
        </p:spPr>
        <p:txBody>
          <a:bodyPr>
            <a:normAutofit/>
          </a:bodyPr>
          <a:lstStyle/>
          <a:p>
            <a:r>
              <a:rPr lang="en-US" altLang="zh-CN" sz="2200" b="1" u="sng" dirty="0"/>
              <a:t>Sample 4  (Cont’d)</a:t>
            </a:r>
            <a:r>
              <a:rPr lang="en-US" altLang="zh-CN" sz="2200" b="1" dirty="0"/>
              <a:t>: </a:t>
            </a:r>
            <a:br>
              <a:rPr lang="en-US" altLang="zh-CN" sz="2200" dirty="0"/>
            </a:br>
            <a:br>
              <a:rPr lang="en-US" altLang="zh-CN" sz="2200" dirty="0"/>
            </a:br>
            <a:r>
              <a:rPr lang="en-US" altLang="zh-CN" sz="2200" dirty="0"/>
              <a:t>1. </a:t>
            </a:r>
            <a:r>
              <a:rPr lang="zh-CN" altLang="en-US" sz="2200" b="1" dirty="0"/>
              <a:t>目标：</a:t>
            </a:r>
            <a:r>
              <a:rPr lang="zh-CN" altLang="en-US" sz="2200" dirty="0"/>
              <a:t>选中所有星星，选择翻转式由远及近进入</a:t>
            </a:r>
            <a:br>
              <a:rPr lang="en-US" altLang="zh-CN" sz="2200" dirty="0"/>
            </a:br>
            <a:r>
              <a:rPr lang="en-US" altLang="zh-CN" sz="2200" dirty="0"/>
              <a:t>2. </a:t>
            </a:r>
            <a:r>
              <a:rPr lang="zh-CN" altLang="en-US" sz="2200" dirty="0"/>
              <a:t>所有星星只闪烁一次存在问题，</a:t>
            </a:r>
            <a:r>
              <a:rPr lang="zh-CN" altLang="en-US" sz="2200" b="1" dirty="0"/>
              <a:t>解决方案：</a:t>
            </a:r>
            <a:r>
              <a:rPr lang="zh-CN" altLang="en-US" sz="2200" dirty="0"/>
              <a:t>点击动画窗格选择所有星星，右键点击计时选择重复直到幻灯片末尾，如下：</a:t>
            </a:r>
            <a:br>
              <a:rPr lang="en-US" altLang="zh-CN" sz="2200" dirty="0"/>
            </a:b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898945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CD86E-C818-4A0A-AFFC-712C60E4E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9D6641A-E17F-400D-8B5E-63014B7A6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A03731E-CCD3-44F7-9CBF-5075E2F68C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3314" y="2830371"/>
            <a:ext cx="4152323" cy="4152323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7F77AC19-EBE4-470C-B077-62804275F8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1911927"/>
            <a:ext cx="1015422" cy="1015422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9647A57A-4209-49C2-BCE4-9BA26C7011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765" y="3291034"/>
            <a:ext cx="639618" cy="639618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5BC81229-2A3F-48AA-940A-604C12427E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09438" y="2510562"/>
            <a:ext cx="639618" cy="639618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37B32407-6102-4601-BFC2-2607B69003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552382" y="2927349"/>
            <a:ext cx="639618" cy="639618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FCD06D6F-45CC-4BB4-B6F6-8375499D55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93028" y="2065411"/>
            <a:ext cx="195118" cy="195118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D1EA145A-6A91-4942-97EF-2E33D02454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12628" y="2162970"/>
            <a:ext cx="195118" cy="195118"/>
          </a:xfrm>
          <a:prstGeom prst="rect">
            <a:avLst/>
          </a:prstGeom>
        </p:spPr>
      </p:pic>
      <p:pic>
        <p:nvPicPr>
          <p:cNvPr id="12" name="图形 11">
            <a:extLst>
              <a:ext uri="{FF2B5EF4-FFF2-40B4-BE49-F238E27FC236}">
                <a16:creationId xmlns:a16="http://schemas.microsoft.com/office/drawing/2014/main" id="{1114A46C-3004-4909-8D0F-75CFF61CCA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7049" y="2927349"/>
            <a:ext cx="195118" cy="195118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7AEE3D8D-5771-4333-9CFE-194A381A7D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55283" y="2954769"/>
            <a:ext cx="195118" cy="195118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3F9F8CFD-1AFE-4DBD-8D71-36C777780F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49973" y="1920874"/>
            <a:ext cx="195118" cy="19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8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repeatCount="indefinite" fill="hold" nodeType="clickEffect">
                                  <p:stCondLst>
                                    <p:cond delay="6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repeatCount="indefinite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repeatCount="indefinite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repeatCount="indefinite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CD86E-C818-4A0A-AFFC-712C60E4E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9D6641A-E17F-400D-8B5E-63014B7A6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A03731E-CCD3-44F7-9CBF-5075E2F68C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3314" y="2830371"/>
            <a:ext cx="4152323" cy="4152323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FCD06D6F-45CC-4BB4-B6F6-8375499D55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93028" y="2065411"/>
            <a:ext cx="195118" cy="195118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D1EA145A-6A91-4942-97EF-2E33D02454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12628" y="2162970"/>
            <a:ext cx="195118" cy="195118"/>
          </a:xfrm>
          <a:prstGeom prst="rect">
            <a:avLst/>
          </a:prstGeom>
        </p:spPr>
      </p:pic>
      <p:pic>
        <p:nvPicPr>
          <p:cNvPr id="12" name="图形 11">
            <a:extLst>
              <a:ext uri="{FF2B5EF4-FFF2-40B4-BE49-F238E27FC236}">
                <a16:creationId xmlns:a16="http://schemas.microsoft.com/office/drawing/2014/main" id="{1114A46C-3004-4909-8D0F-75CFF61CCA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37049" y="2927349"/>
            <a:ext cx="195118" cy="195118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7AEE3D8D-5771-4333-9CFE-194A381A7D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5283" y="2954769"/>
            <a:ext cx="195118" cy="195118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3F9F8CFD-1AFE-4DBD-8D71-36C777780F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49973" y="1920874"/>
            <a:ext cx="195118" cy="19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31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repeatCount="indefinite" fill="hold" nodeType="clickEffect">
                                  <p:stCondLst>
                                    <p:cond delay="6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repeatCount="indefinite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repeatCount="indefinite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repeatCount="indefinite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26E2AC48-A593-46C6-AF61-8997E0FA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91093"/>
          </a:xfrm>
        </p:spPr>
        <p:txBody>
          <a:bodyPr>
            <a:normAutofit/>
          </a:bodyPr>
          <a:lstStyle/>
          <a:p>
            <a:r>
              <a:rPr lang="en-US" altLang="zh-CN" sz="2200" b="1" u="sng" dirty="0"/>
              <a:t>Sample 4  (Cont’d)</a:t>
            </a:r>
            <a:r>
              <a:rPr lang="en-US" altLang="zh-CN" sz="2200" b="1" dirty="0"/>
              <a:t>: </a:t>
            </a:r>
            <a:br>
              <a:rPr lang="en-US" altLang="zh-CN" sz="2200" dirty="0"/>
            </a:br>
            <a:br>
              <a:rPr lang="en-US" altLang="zh-CN" sz="2200" dirty="0"/>
            </a:br>
            <a:r>
              <a:rPr lang="en-US" altLang="zh-CN" sz="2200" b="1" dirty="0"/>
              <a:t>1. </a:t>
            </a:r>
            <a:r>
              <a:rPr lang="zh-CN" altLang="en-US" sz="2200" b="1" dirty="0"/>
              <a:t>目标：</a:t>
            </a:r>
            <a:r>
              <a:rPr lang="zh-CN" altLang="en-US" sz="2200" dirty="0"/>
              <a:t>月亮升起再降落</a:t>
            </a:r>
            <a:br>
              <a:rPr lang="en-US" altLang="zh-CN" sz="2200" dirty="0"/>
            </a:br>
            <a:r>
              <a:rPr lang="en-US" altLang="zh-CN" sz="2200" dirty="0"/>
              <a:t>2. </a:t>
            </a:r>
            <a:r>
              <a:rPr lang="zh-CN" altLang="en-US" sz="2200" dirty="0"/>
              <a:t>月亮不动存在问题，</a:t>
            </a:r>
            <a:r>
              <a:rPr lang="zh-CN" altLang="en-US" sz="2200" b="1" dirty="0"/>
              <a:t>解决方案：</a:t>
            </a:r>
            <a:r>
              <a:rPr lang="zh-CN" altLang="en-US" sz="2200" dirty="0"/>
              <a:t>月亮一直在画面中，只是路径需要移动而已，所以选择动作路径。</a:t>
            </a:r>
            <a:r>
              <a:rPr lang="en-US" altLang="zh-CN" sz="2200" dirty="0"/>
              <a:t>A) </a:t>
            </a:r>
            <a:r>
              <a:rPr lang="zh-CN" altLang="en-US" sz="2200" dirty="0"/>
              <a:t>选择月亮，点击动画，给月亮一个弧形的动作路径，并</a:t>
            </a:r>
            <a:r>
              <a:rPr lang="en-US" altLang="zh-CN" sz="2200" dirty="0"/>
              <a:t>B) </a:t>
            </a:r>
            <a:r>
              <a:rPr lang="zh-CN" altLang="en-US" sz="2200" dirty="0"/>
              <a:t>在效果选项中给动作路径设置成向上，</a:t>
            </a:r>
            <a:r>
              <a:rPr lang="en-US" altLang="zh-CN" sz="2200" dirty="0"/>
              <a:t>C) </a:t>
            </a:r>
            <a:r>
              <a:rPr lang="zh-CN" altLang="en-US" sz="2200" dirty="0"/>
              <a:t>点开效果选项右下角箭头，将平滑开始和平滑结束时间设置为</a:t>
            </a:r>
            <a:r>
              <a:rPr lang="en-US" altLang="zh-CN" sz="2200" dirty="0"/>
              <a:t>0</a:t>
            </a:r>
            <a:r>
              <a:rPr lang="zh-CN" altLang="en-US" sz="2200" dirty="0"/>
              <a:t>，</a:t>
            </a:r>
            <a:r>
              <a:rPr lang="en-US" altLang="zh-CN" sz="2200" dirty="0"/>
              <a:t>D)</a:t>
            </a:r>
            <a:r>
              <a:rPr lang="zh-CN" altLang="en-US" sz="2200" dirty="0"/>
              <a:t> 持续时间设置成</a:t>
            </a:r>
            <a:r>
              <a:rPr lang="en-US" altLang="zh-CN" sz="2200" dirty="0"/>
              <a:t>10</a:t>
            </a:r>
            <a:r>
              <a:rPr lang="zh-CN" altLang="en-US" sz="2200" dirty="0"/>
              <a:t>秒，</a:t>
            </a:r>
            <a:r>
              <a:rPr lang="en-US" altLang="zh-CN" sz="2200" dirty="0"/>
              <a:t>E) </a:t>
            </a:r>
            <a:r>
              <a:rPr lang="zh-CN" altLang="en-US" sz="2200" dirty="0"/>
              <a:t>与上一个动画同时，如下：</a:t>
            </a:r>
            <a:br>
              <a:rPr lang="en-US" altLang="zh-CN" sz="2200" dirty="0"/>
            </a:b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414446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CD86E-C818-4A0A-AFFC-712C60E4E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9D6641A-E17F-400D-8B5E-63014B7A6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A03731E-CCD3-44F7-9CBF-5075E2F68C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3314" y="2830371"/>
            <a:ext cx="4152323" cy="4152323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7F77AC19-EBE4-470C-B077-62804275F8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41820" y="2413577"/>
            <a:ext cx="1015422" cy="101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82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4.81481E-6 C 0.09818 -0.02175 0.19219 -0.08217 0.29024 -0.10439 C 0.35157 -0.11921 0.46368 -0.15578 0.54948 -0.14953 C 0.63516 -0.14305 0.74362 -0.08125 0.80495 -0.06643 C 0.90339 -0.04444 0.98008 0.02038 1.07878 0.04306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932" y="-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26E2AC48-A593-46C6-AF61-8997E0FA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91093"/>
          </a:xfrm>
        </p:spPr>
        <p:txBody>
          <a:bodyPr>
            <a:normAutofit/>
          </a:bodyPr>
          <a:lstStyle/>
          <a:p>
            <a:r>
              <a:rPr lang="en-US" altLang="zh-CN" sz="2200" b="1" u="sng" dirty="0"/>
              <a:t>Sample 4  (Cont’d)</a:t>
            </a:r>
            <a:r>
              <a:rPr lang="en-US" altLang="zh-CN" sz="2200" b="1" dirty="0"/>
              <a:t>: </a:t>
            </a:r>
            <a:br>
              <a:rPr lang="en-US" altLang="zh-CN" sz="2200" dirty="0"/>
            </a:br>
            <a:br>
              <a:rPr lang="en-US" altLang="zh-CN" sz="2200" dirty="0"/>
            </a:br>
            <a:r>
              <a:rPr lang="en-US" altLang="zh-CN" sz="2200" b="1" dirty="0"/>
              <a:t>1. </a:t>
            </a:r>
            <a:r>
              <a:rPr lang="zh-CN" altLang="en-US" sz="2200" b="1" dirty="0"/>
              <a:t>目标：</a:t>
            </a:r>
            <a:r>
              <a:rPr lang="zh-CN" altLang="en-US" sz="2200" dirty="0"/>
              <a:t>云朵不动</a:t>
            </a:r>
            <a:br>
              <a:rPr lang="en-US" altLang="zh-CN" sz="2200" dirty="0"/>
            </a:br>
            <a:r>
              <a:rPr lang="en-US" altLang="zh-CN" sz="2200" dirty="0"/>
              <a:t>2. </a:t>
            </a:r>
            <a:r>
              <a:rPr lang="zh-CN" altLang="en-US" sz="2200" dirty="0"/>
              <a:t>云朵不动存在问题，</a:t>
            </a:r>
            <a:r>
              <a:rPr lang="zh-CN" altLang="en-US" sz="2200" b="1" dirty="0"/>
              <a:t>解决方案：</a:t>
            </a:r>
            <a:r>
              <a:rPr lang="zh-CN" altLang="en-US" sz="2200" dirty="0"/>
              <a:t>云朵一直在画面中，只是路径需要移动而已，所以选择动作路径。</a:t>
            </a:r>
            <a:r>
              <a:rPr lang="en-US" altLang="zh-CN" sz="2200" dirty="0"/>
              <a:t>A) </a:t>
            </a:r>
            <a:r>
              <a:rPr lang="zh-CN" altLang="en-US" sz="2200" dirty="0"/>
              <a:t>选择云朵，点击动画，给月亮一个直线的动作路径，</a:t>
            </a:r>
            <a:r>
              <a:rPr lang="en-US" altLang="zh-CN" sz="2200" dirty="0"/>
              <a:t>B)</a:t>
            </a:r>
            <a:r>
              <a:rPr lang="zh-CN" altLang="en-US" sz="2200" dirty="0"/>
              <a:t> 取消平滑开始和平滑结束，</a:t>
            </a:r>
            <a:r>
              <a:rPr lang="en-US" altLang="zh-CN" sz="2200" dirty="0"/>
              <a:t>C) </a:t>
            </a:r>
            <a:r>
              <a:rPr lang="zh-CN" altLang="en-US" sz="2200" dirty="0"/>
              <a:t>持续时间设置成</a:t>
            </a:r>
            <a:r>
              <a:rPr lang="en-US" altLang="zh-CN" sz="2200" dirty="0"/>
              <a:t>5</a:t>
            </a:r>
            <a:r>
              <a:rPr lang="zh-CN" altLang="en-US" sz="2200" dirty="0"/>
              <a:t>秒，</a:t>
            </a:r>
            <a:r>
              <a:rPr lang="en-US" altLang="zh-CN" sz="2200" dirty="0"/>
              <a:t>D) </a:t>
            </a:r>
            <a:r>
              <a:rPr lang="zh-CN" altLang="en-US" sz="2200" dirty="0"/>
              <a:t>与上一个动画同时，</a:t>
            </a:r>
            <a:r>
              <a:rPr lang="en-US" altLang="zh-CN" sz="2200" dirty="0"/>
              <a:t>E)</a:t>
            </a:r>
            <a:r>
              <a:rPr lang="zh-CN" altLang="en-US" sz="2200" dirty="0"/>
              <a:t> 多复制几多云，如下：</a:t>
            </a:r>
            <a:br>
              <a:rPr lang="en-US" altLang="zh-CN" sz="2200" dirty="0"/>
            </a:br>
            <a:br>
              <a:rPr lang="en-US" altLang="zh-CN" sz="2200" dirty="0"/>
            </a:br>
            <a:r>
              <a:rPr lang="zh-CN" altLang="en-US" sz="2200" dirty="0"/>
              <a:t>并</a:t>
            </a:r>
            <a:r>
              <a:rPr lang="en-US" altLang="zh-CN" sz="2200" dirty="0"/>
              <a:t>B) </a:t>
            </a:r>
            <a:r>
              <a:rPr lang="zh-CN" altLang="en-US" sz="2200" dirty="0"/>
              <a:t>在效果选项中给动作路径设置成向上，</a:t>
            </a:r>
            <a:r>
              <a:rPr lang="en-US" altLang="zh-CN" sz="2200" dirty="0"/>
              <a:t>C) </a:t>
            </a:r>
            <a:r>
              <a:rPr lang="zh-CN" altLang="en-US" sz="2200" dirty="0"/>
              <a:t>点开效果选项右下角箭头，将平滑开始和平滑结束时间设置为</a:t>
            </a:r>
            <a:r>
              <a:rPr lang="en-US" altLang="zh-CN" sz="2200" dirty="0"/>
              <a:t>0</a:t>
            </a:r>
            <a:r>
              <a:rPr lang="zh-CN" altLang="en-US" sz="2200" dirty="0"/>
              <a:t>，</a:t>
            </a:r>
            <a:r>
              <a:rPr lang="en-US" altLang="zh-CN" sz="2200" dirty="0"/>
              <a:t>D)</a:t>
            </a:r>
            <a:r>
              <a:rPr lang="zh-CN" altLang="en-US" sz="2200" dirty="0"/>
              <a:t> 持续时间设置成</a:t>
            </a:r>
            <a:r>
              <a:rPr lang="en-US" altLang="zh-CN" sz="2200" dirty="0"/>
              <a:t>10</a:t>
            </a:r>
            <a:r>
              <a:rPr lang="zh-CN" altLang="en-US" sz="2200" dirty="0"/>
              <a:t>秒，</a:t>
            </a:r>
            <a:r>
              <a:rPr lang="en-US" altLang="zh-CN" sz="2200" dirty="0"/>
              <a:t>E) </a:t>
            </a:r>
            <a:r>
              <a:rPr lang="zh-CN" altLang="en-US" sz="2200" dirty="0"/>
              <a:t>与上一个动画同时，如下：</a:t>
            </a:r>
            <a:br>
              <a:rPr lang="en-US" altLang="zh-CN" sz="2200" dirty="0"/>
            </a:b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431222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CD86E-C818-4A0A-AFFC-712C60E4E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9D6641A-E17F-400D-8B5E-63014B7A6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A03731E-CCD3-44F7-9CBF-5075E2F68C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3314" y="2830371"/>
            <a:ext cx="4152323" cy="4152323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9647A57A-4209-49C2-BCE4-9BA26C7011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759690" y="3247158"/>
            <a:ext cx="639618" cy="639618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8E59B163-734B-410A-9FDE-8D4D3681A3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0584" y="4586723"/>
            <a:ext cx="639618" cy="639618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397948A0-10A7-430F-A740-074AA81D1E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51211" y="1940720"/>
            <a:ext cx="639618" cy="639618"/>
          </a:xfrm>
          <a:prstGeom prst="rect">
            <a:avLst/>
          </a:pr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8C595458-8739-43B3-A691-69D2E2D2CA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48632" y="708097"/>
            <a:ext cx="639618" cy="63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92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2.59259E-6 L 1.07162 0.00023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581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22222E-6 L 1.07161 0.00023 " pathEditMode="relative" rAng="0" ptsTypes="AA">
                                      <p:cBhvr>
                                        <p:cTn id="8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581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3.7037E-7 L 1.07161 0.00023 " pathEditMode="relative" rAng="0" ptsTypes="AA">
                                      <p:cBhvr>
                                        <p:cTn id="10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581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48148E-6 L -1.07592 -0.0013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802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615</Words>
  <Application>Microsoft Office PowerPoint</Application>
  <PresentationFormat>宽屏</PresentationFormat>
  <Paragraphs>27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等线</vt:lpstr>
      <vt:lpstr>等线 Light</vt:lpstr>
      <vt:lpstr>Arial</vt:lpstr>
      <vt:lpstr>Office 主题​​</vt:lpstr>
      <vt:lpstr>动画种类</vt:lpstr>
      <vt:lpstr>PowerPoint 演示文稿</vt:lpstr>
      <vt:lpstr>Sample 1: 3个方框飞入：全选方框，点击动画选择飞入，点击预览</vt:lpstr>
      <vt:lpstr>Sample 2: 3个方框飞入：全选方框，点击动画选择飞入，点击效果选项选择自左侧</vt:lpstr>
      <vt:lpstr>Sample 3: 3个方框飞入：全选方框，点击动画选择飞入，点击效果选项选择自左侧，点击动画窗格，方框2延迟0.25秒，方框3延迟0.5秒</vt:lpstr>
      <vt:lpstr>Sample 4:   1. 目标：选中所有星星，选择翻转式由远及近进入，如下：  </vt:lpstr>
      <vt:lpstr>PowerPoint 演示文稿</vt:lpstr>
      <vt:lpstr>Sample 4  (Cont’d):   1. 目标：选中所有星星，选择翻转式由远及近进入 2. 所有星星同一时间闪烁存在问题，解决方案：点击动画窗格为每一个星星增加延迟，如下： </vt:lpstr>
      <vt:lpstr>PowerPoint 演示文稿</vt:lpstr>
      <vt:lpstr>Sample 4  (Cont’d):   1. 目标：选中所有星星，选择翻转式由远及近进入 2. 所有星星只闪烁一次存在问题，解决方案：点击动画窗格选择所有星星，右键点击计时选择重复直到幻灯片末尾，如下： </vt:lpstr>
      <vt:lpstr>PowerPoint 演示文稿</vt:lpstr>
      <vt:lpstr>PowerPoint 演示文稿</vt:lpstr>
      <vt:lpstr>Sample 4  (Cont’d):   1. 目标：月亮升起再降落 2. 月亮不动存在问题，解决方案：月亮一直在画面中，只是路径需要移动而已，所以选择动作路径。A) 选择月亮，点击动画，给月亮一个弧形的动作路径，并B) 在效果选项中给动作路径设置成向上，C) 点开效果选项右下角箭头，将平滑开始和平滑结束时间设置为0，D) 持续时间设置成10秒，E) 与上一个动画同时，如下： </vt:lpstr>
      <vt:lpstr>PowerPoint 演示文稿</vt:lpstr>
      <vt:lpstr>Sample 4  (Cont’d):   1. 目标：云朵不动 2. 云朵不动存在问题，解决方案：云朵一直在画面中，只是路径需要移动而已，所以选择动作路径。A) 选择云朵，点击动画，给月亮一个直线的动作路径，B) 取消平滑开始和平滑结束，C) 持续时间设置成5秒，D) 与上一个动画同时，E) 多复制几多云，如下：  并B) 在效果选项中给动作路径设置成向上，C) 点开效果选项右下角箭头，将平滑开始和平滑结束时间设置为0，D) 持续时间设置成10秒，E) 与上一个动画同时，如下： 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Canhui Wang</dc:creator>
  <cp:lastModifiedBy>Canhui Wang</cp:lastModifiedBy>
  <cp:revision>30</cp:revision>
  <dcterms:created xsi:type="dcterms:W3CDTF">2026-05-29T00:35:31Z</dcterms:created>
  <dcterms:modified xsi:type="dcterms:W3CDTF">2026-05-29T09:44:25Z</dcterms:modified>
</cp:coreProperties>
</file>